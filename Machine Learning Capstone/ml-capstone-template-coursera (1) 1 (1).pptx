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2" r:id="rId4"/>
  </p:sldMasterIdLst>
  <p:notesMasterIdLst>
    <p:notesMasterId r:id="rId28"/>
  </p:notesMasterIdLst>
  <p:handoutMasterIdLst>
    <p:handoutMasterId r:id="rId29"/>
  </p:handoutMasterIdLst>
  <p:sldIdLst>
    <p:sldId id="336" r:id="rId5"/>
    <p:sldId id="330" r:id="rId6"/>
    <p:sldId id="332" r:id="rId7"/>
    <p:sldId id="337" r:id="rId8"/>
    <p:sldId id="340" r:id="rId9"/>
    <p:sldId id="339" r:id="rId10"/>
    <p:sldId id="341" r:id="rId11"/>
    <p:sldId id="348" r:id="rId12"/>
    <p:sldId id="334" r:id="rId13"/>
    <p:sldId id="342" r:id="rId14"/>
    <p:sldId id="343" r:id="rId15"/>
    <p:sldId id="344" r:id="rId16"/>
    <p:sldId id="345" r:id="rId17"/>
    <p:sldId id="346" r:id="rId18"/>
    <p:sldId id="347" r:id="rId19"/>
    <p:sldId id="335" r:id="rId20"/>
    <p:sldId id="350" r:id="rId21"/>
    <p:sldId id="351" r:id="rId22"/>
    <p:sldId id="352" r:id="rId23"/>
    <p:sldId id="353" r:id="rId24"/>
    <p:sldId id="354" r:id="rId25"/>
    <p:sldId id="274" r:id="rId26"/>
    <p:sldId id="275" r:id="rId27"/>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F1590AA-02B3-4ADE-F57B-86D5AB206163}" name="Jarrod Renfro" initials="JR" userId="Jarrod Renfro"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Leon Katsnelson" initials="LK" lastIdx="21" clrIdx="4">
    <p:extLst>
      <p:ext uri="{19B8F6BF-5375-455C-9EA6-DF929625EA0E}">
        <p15:presenceInfo xmlns:p15="http://schemas.microsoft.com/office/powerpoint/2012/main" userId="S::leon@ca.ibm.com::68697268-d1ba-4c91-8538-7f4d439d4f70" providerId="AD"/>
      </p:ext>
    </p:extLst>
  </p:cmAuthor>
  <p:cmAuthor id="6" name="YAN LUO" initials="YL"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2CC"/>
    <a:srgbClr val="F5EACB"/>
    <a:srgbClr val="F2F4F8"/>
    <a:srgbClr val="0948CB"/>
    <a:srgbClr val="0B49CB"/>
    <a:srgbClr val="1C7DDB"/>
    <a:srgbClr val="121619"/>
    <a:srgbClr val="F2F2F2"/>
    <a:srgbClr val="145579"/>
    <a:srgbClr val="3A64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6344B4-B012-190C-FF3D-E98AC32BACD0}" v="2719" dt="2026-04-07T14:37:56.137"/>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389"/>
    <p:restoredTop sz="85169"/>
  </p:normalViewPr>
  <p:slideViewPr>
    <p:cSldViewPr snapToGrid="0" snapToObjects="1">
      <p:cViewPr varScale="1">
        <p:scale>
          <a:sx n="132" d="100"/>
          <a:sy n="132" d="100"/>
        </p:scale>
        <p:origin x="2256" y="184"/>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35" Type="http://schemas.microsoft.com/office/2015/10/relationships/revisionInfo" Target="revisionInfo.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167474-952B-AC43-BEC3-541C80E3FD9C}"/>
              </a:ext>
            </a:extLst>
          </p:cNvPr>
          <p:cNvSpPr>
            <a:spLocks noGrp="1"/>
          </p:cNvSpPr>
          <p:nvPr>
            <p:ph type="hdr" sz="quarter"/>
          </p:nvPr>
        </p:nvSpPr>
        <p:spPr>
          <a:xfrm>
            <a:off x="0" y="0"/>
            <a:ext cx="2971800" cy="93663"/>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B6DC1C6-1287-2C4A-84C8-98EFD82F9A6C}"/>
              </a:ext>
            </a:extLst>
          </p:cNvPr>
          <p:cNvSpPr>
            <a:spLocks noGrp="1"/>
          </p:cNvSpPr>
          <p:nvPr>
            <p:ph type="dt" sz="quarter" idx="1"/>
          </p:nvPr>
        </p:nvSpPr>
        <p:spPr>
          <a:xfrm>
            <a:off x="3884613" y="0"/>
            <a:ext cx="2971800" cy="93663"/>
          </a:xfrm>
          <a:prstGeom prst="rect">
            <a:avLst/>
          </a:prstGeom>
        </p:spPr>
        <p:txBody>
          <a:bodyPr vert="horz" lIns="91440" tIns="45720" rIns="91440" bIns="45720" rtlCol="0"/>
          <a:lstStyle>
            <a:lvl1pPr algn="r">
              <a:defRPr sz="1200"/>
            </a:lvl1pPr>
          </a:lstStyle>
          <a:p>
            <a:fld id="{C61B1DFE-DEC1-F84C-B64B-0BC4AFB87332}" type="datetimeFigureOut">
              <a:rPr lang="en-US" smtClean="0"/>
              <a:t>4/7/2026</a:t>
            </a:fld>
            <a:endParaRPr lang="en-US"/>
          </a:p>
        </p:txBody>
      </p:sp>
      <p:sp>
        <p:nvSpPr>
          <p:cNvPr id="4" name="Footer Placeholder 3">
            <a:extLst>
              <a:ext uri="{FF2B5EF4-FFF2-40B4-BE49-F238E27FC236}">
                <a16:creationId xmlns:a16="http://schemas.microsoft.com/office/drawing/2014/main" id="{06B322D0-710C-764D-ADE9-C566FF3B05D7}"/>
              </a:ext>
            </a:extLst>
          </p:cNvPr>
          <p:cNvSpPr>
            <a:spLocks noGrp="1"/>
          </p:cNvSpPr>
          <p:nvPr>
            <p:ph type="ftr" sz="quarter" idx="2"/>
          </p:nvPr>
        </p:nvSpPr>
        <p:spPr>
          <a:xfrm>
            <a:off x="0" y="1763713"/>
            <a:ext cx="2971800" cy="9366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42A2AE0-FDA0-1248-8D07-A5244E897ED5}"/>
              </a:ext>
            </a:extLst>
          </p:cNvPr>
          <p:cNvSpPr>
            <a:spLocks noGrp="1"/>
          </p:cNvSpPr>
          <p:nvPr>
            <p:ph type="sldNum" sz="quarter" idx="3"/>
          </p:nvPr>
        </p:nvSpPr>
        <p:spPr>
          <a:xfrm>
            <a:off x="3884613" y="1763713"/>
            <a:ext cx="2971800" cy="93662"/>
          </a:xfrm>
          <a:prstGeom prst="rect">
            <a:avLst/>
          </a:prstGeom>
        </p:spPr>
        <p:txBody>
          <a:bodyPr vert="horz" lIns="91440" tIns="45720" rIns="91440" bIns="45720" rtlCol="0" anchor="b"/>
          <a:lstStyle>
            <a:lvl1pPr algn="r">
              <a:defRPr sz="1200"/>
            </a:lvl1pPr>
          </a:lstStyle>
          <a:p>
            <a:fld id="{FD91E733-BECA-E944-9B7F-321864631FC0}" type="slidenum">
              <a:rPr lang="en-US" smtClean="0"/>
              <a:t>‹#›</a:t>
            </a:fld>
            <a:endParaRPr lang="en-US"/>
          </a:p>
        </p:txBody>
      </p:sp>
    </p:spTree>
    <p:extLst>
      <p:ext uri="{BB962C8B-B14F-4D97-AF65-F5344CB8AC3E}">
        <p14:creationId xmlns:p14="http://schemas.microsoft.com/office/powerpoint/2010/main" val="4071015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1</a:t>
            </a:fld>
            <a:endParaRPr lang="en-US"/>
          </a:p>
        </p:txBody>
      </p:sp>
    </p:spTree>
    <p:extLst>
      <p:ext uri="{BB962C8B-B14F-4D97-AF65-F5344CB8AC3E}">
        <p14:creationId xmlns:p14="http://schemas.microsoft.com/office/powerpoint/2010/main" val="2418124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t>2</a:t>
            </a:fld>
            <a:endParaRPr lang="en-US" dirty="0"/>
          </a:p>
        </p:txBody>
      </p:sp>
    </p:spTree>
    <p:extLst>
      <p:ext uri="{BB962C8B-B14F-4D97-AF65-F5344CB8AC3E}">
        <p14:creationId xmlns:p14="http://schemas.microsoft.com/office/powerpoint/2010/main" val="420831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BDA0E2-FEBD-4B65-8F16-724CF984F377}" type="slidenum">
              <a:rPr lang="en-US" smtClean="0"/>
              <a:t>23</a:t>
            </a:fld>
            <a:endParaRPr lang="en-US"/>
          </a:p>
        </p:txBody>
      </p:sp>
    </p:spTree>
    <p:extLst>
      <p:ext uri="{BB962C8B-B14F-4D97-AF65-F5344CB8AC3E}">
        <p14:creationId xmlns:p14="http://schemas.microsoft.com/office/powerpoint/2010/main" val="998503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2FDF747-B622-7F48-9215-C3A606BDEB98}"/>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372729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E525-4063-4C4F-8334-FBA02DB6937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B14EC97-9D34-BE48-9367-02F3BA14827A}"/>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BB8E19-FEF2-7A4B-8575-5AFEB134BC5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5" name="Footer Placeholder 4">
            <a:extLst>
              <a:ext uri="{FF2B5EF4-FFF2-40B4-BE49-F238E27FC236}">
                <a16:creationId xmlns:a16="http://schemas.microsoft.com/office/drawing/2014/main" id="{513A4E28-3138-784C-8CBB-8586D8EE030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FB07D0F-3645-6B43-9AD7-762199572C65}"/>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669837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63CE8-FC8A-B648-971E-6DC96997A7A7}"/>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634958-58AE-3F4E-8C00-440B25A937A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872462-6007-A64A-86E6-F5ED46C87269}"/>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5" name="Footer Placeholder 4">
            <a:extLst>
              <a:ext uri="{FF2B5EF4-FFF2-40B4-BE49-F238E27FC236}">
                <a16:creationId xmlns:a16="http://schemas.microsoft.com/office/drawing/2014/main" id="{99D379FD-EE00-8243-9FA5-BC4C116FA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2C754-6A4A-424A-B972-C341147C4E0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983851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B8FC9-14F0-064F-BEB7-9DA0B582216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F565333-3885-5246-9997-584B944334CC}"/>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2A3D495-0AB7-4245-BD03-FEF725EE8B32}"/>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7A3532B-22A8-4948-8614-690AB67FC7F6}"/>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6" name="Footer Placeholder 5">
            <a:extLst>
              <a:ext uri="{FF2B5EF4-FFF2-40B4-BE49-F238E27FC236}">
                <a16:creationId xmlns:a16="http://schemas.microsoft.com/office/drawing/2014/main" id="{BE45A5D6-868E-4849-A5DA-84702CEDFE8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7D682E35-43FC-E946-AA84-7E00546A24B6}"/>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45983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4121-1457-7D45-BFFD-BECD6649741B}"/>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6CE09A76-C125-0945-BCD8-FF2A0498A56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B142CC-BC3F-664E-A6C2-3854B8D4E8C7}"/>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2FA8D54-9ED9-E345-B69E-FF5D485B134B}"/>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9B295F-F3C2-5646-A5F3-194FE6EFEB29}"/>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0516157-5FC9-E841-A6FC-14EBCFDEC672}"/>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8" name="Footer Placeholder 7">
            <a:extLst>
              <a:ext uri="{FF2B5EF4-FFF2-40B4-BE49-F238E27FC236}">
                <a16:creationId xmlns:a16="http://schemas.microsoft.com/office/drawing/2014/main" id="{3544E072-D5B7-D647-82C0-40BEAE857D4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47A73D6E-2A82-7344-BB8C-513E6DA4E143}"/>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47210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B4CE-9E7B-564C-A6C3-DCABF996FBD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4CF8A31D-92A5-DF47-9C3A-9F9C1CF8FC6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4" name="Footer Placeholder 3">
            <a:extLst>
              <a:ext uri="{FF2B5EF4-FFF2-40B4-BE49-F238E27FC236}">
                <a16:creationId xmlns:a16="http://schemas.microsoft.com/office/drawing/2014/main" id="{FFE7EADA-8BC4-974C-BBA1-7390F15FD5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89EC0A8-C281-FF40-A774-EAF6089BB00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2428588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027EBC-C9EC-5844-B3BF-5151B2F70EA4}"/>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3" name="Footer Placeholder 2">
            <a:extLst>
              <a:ext uri="{FF2B5EF4-FFF2-40B4-BE49-F238E27FC236}">
                <a16:creationId xmlns:a16="http://schemas.microsoft.com/office/drawing/2014/main" id="{A9F664BF-C7CE-DC46-9D6D-A9335EE9D8B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A1AAD4E-B732-E349-8793-C20A3D6B70AE}"/>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1418628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A651-FEEA-2140-82D8-9C06A36F929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D2DAEA-C881-354D-A17E-2A95857F0CA4}"/>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2148C2-62EB-B446-BB7C-69F5E48064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14D069-D155-9141-9045-DB41904753A7}"/>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6" name="Footer Placeholder 5">
            <a:extLst>
              <a:ext uri="{FF2B5EF4-FFF2-40B4-BE49-F238E27FC236}">
                <a16:creationId xmlns:a16="http://schemas.microsoft.com/office/drawing/2014/main" id="{2C0EE34C-EABB-6848-A341-7CA0C293798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0C04AAD-C125-DD44-8102-9F28820805FD}"/>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4126351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D611A-FFDF-C848-A433-C5B125C402E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6C0E97-AC3D-784B-96B7-0D18B5A35AE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6B37986-0214-C348-AB5F-D54BF288107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6860A9-8610-9347-BAE7-F23CCA13E55B}"/>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6" name="Footer Placeholder 5">
            <a:extLst>
              <a:ext uri="{FF2B5EF4-FFF2-40B4-BE49-F238E27FC236}">
                <a16:creationId xmlns:a16="http://schemas.microsoft.com/office/drawing/2014/main" id="{14249D7C-BCAA-DE44-AE89-5178DA8D82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5319C3-A65D-764B-BD49-57D0082AE9A9}"/>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3349313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DD383-EB92-5540-96BB-199B7760EF4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9FED7B-4DA5-4346-B7E2-D18782430F68}"/>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B5F2C-52A9-3047-A473-9FFC051518A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5" name="Footer Placeholder 4">
            <a:extLst>
              <a:ext uri="{FF2B5EF4-FFF2-40B4-BE49-F238E27FC236}">
                <a16:creationId xmlns:a16="http://schemas.microsoft.com/office/drawing/2014/main" id="{DAC041C9-0677-664D-B2BB-69B0A6A7093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0B34EA4-D670-2C41-9EF4-392023D22E4F}"/>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74854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05DB93-A58E-714C-BD6E-76F1D21AEA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F83819-F149-7645-A0DD-B53DD9D8483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FB065F-A67E-EF4E-A12F-EB30F584E490}"/>
              </a:ext>
            </a:extLst>
          </p:cNvPr>
          <p:cNvSpPr>
            <a:spLocks noGrp="1"/>
          </p:cNvSpPr>
          <p:nvPr>
            <p:ph type="dt" sz="half" idx="10"/>
          </p:nvPr>
        </p:nvSpPr>
        <p:spPr>
          <a:xfrm>
            <a:off x="838200" y="6356350"/>
            <a:ext cx="2743200" cy="365125"/>
          </a:xfrm>
          <a:prstGeom prst="rect">
            <a:avLst/>
          </a:prstGeom>
        </p:spPr>
        <p:txBody>
          <a:bodyPr/>
          <a:lstStyle/>
          <a:p>
            <a:fld id="{5E4E5C39-FE1E-4048-9E78-68F07A4195FB}" type="datetimeFigureOut">
              <a:rPr lang="en-US" smtClean="0"/>
              <a:t>4/7/2026</a:t>
            </a:fld>
            <a:endParaRPr lang="en-US"/>
          </a:p>
        </p:txBody>
      </p:sp>
      <p:sp>
        <p:nvSpPr>
          <p:cNvPr id="5" name="Footer Placeholder 4">
            <a:extLst>
              <a:ext uri="{FF2B5EF4-FFF2-40B4-BE49-F238E27FC236}">
                <a16:creationId xmlns:a16="http://schemas.microsoft.com/office/drawing/2014/main" id="{356E9D5F-8CC5-8740-9426-35E9D812FC6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BB1DE0B-93CB-5C41-B581-C00D0F9F7CC2}"/>
              </a:ext>
            </a:extLst>
          </p:cNvPr>
          <p:cNvSpPr>
            <a:spLocks noGrp="1"/>
          </p:cNvSpPr>
          <p:nvPr>
            <p:ph type="sldNum" sz="quarter" idx="12"/>
          </p:nvPr>
        </p:nvSpPr>
        <p:spPr/>
        <p:txBody>
          <a:bodyPr/>
          <a:lstStyle/>
          <a:p>
            <a:fld id="{A190C97C-0095-2443-AC12-FA4CBA4ACD4D}" type="slidenum">
              <a:rPr lang="en-US" smtClean="0"/>
              <a:t>‹#›</a:t>
            </a:fld>
            <a:endParaRPr lang="en-US"/>
          </a:p>
        </p:txBody>
      </p:sp>
    </p:spTree>
    <p:extLst>
      <p:ext uri="{BB962C8B-B14F-4D97-AF65-F5344CB8AC3E}">
        <p14:creationId xmlns:p14="http://schemas.microsoft.com/office/powerpoint/2010/main" val="857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2CC">
            <a:alpha val="50000"/>
          </a:srgbClr>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0D5B246-E282-3742-BD72-B1BCDC5A64B4}"/>
              </a:ext>
            </a:extLst>
          </p:cNvPr>
          <p:cNvSpPr>
            <a:spLocks noGrp="1"/>
          </p:cNvSpPr>
          <p:nvPr>
            <p:ph type="sldNum" sz="quarter" idx="4"/>
          </p:nvPr>
        </p:nvSpPr>
        <p:spPr>
          <a:xfrm>
            <a:off x="8714772" y="6025573"/>
            <a:ext cx="2743200" cy="401638"/>
          </a:xfrm>
          <a:prstGeom prst="rect">
            <a:avLst/>
          </a:prstGeom>
        </p:spPr>
        <p:txBody>
          <a:bodyPr vert="horz" lIns="91440" tIns="45720" rIns="91440" bIns="45720" rtlCol="0" anchor="ctr"/>
          <a:lstStyle>
            <a:lvl1pPr algn="r">
              <a:defRPr sz="1600">
                <a:solidFill>
                  <a:srgbClr val="1C7DDB"/>
                </a:solidFill>
                <a:latin typeface="Abadi" panose="020B0604020104020204" pitchFamily="34" charset="0"/>
              </a:defRPr>
            </a:lvl1pPr>
          </a:lstStyle>
          <a:p>
            <a:fld id="{A190C97C-0095-2443-AC12-FA4CBA4ACD4D}" type="slidenum">
              <a:rPr lang="en-US" smtClean="0"/>
              <a:pPr/>
              <a:t>‹#›</a:t>
            </a:fld>
            <a:endParaRPr lang="en-US"/>
          </a:p>
        </p:txBody>
      </p:sp>
    </p:spTree>
    <p:extLst>
      <p:ext uri="{BB962C8B-B14F-4D97-AF65-F5344CB8AC3E}">
        <p14:creationId xmlns:p14="http://schemas.microsoft.com/office/powerpoint/2010/main" val="2647310266"/>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BCBB462-34C3-D144-9620-F611A0964A6F}"/>
              </a:ext>
            </a:extLst>
          </p:cNvPr>
          <p:cNvGrpSpPr/>
          <p:nvPr/>
        </p:nvGrpSpPr>
        <p:grpSpPr>
          <a:xfrm>
            <a:off x="4271212" y="3429642"/>
            <a:ext cx="6109050" cy="2838753"/>
            <a:chOff x="5136802" y="3703860"/>
            <a:chExt cx="6109050" cy="2838753"/>
          </a:xfrm>
        </p:grpSpPr>
        <p:pic>
          <p:nvPicPr>
            <p:cNvPr id="4" name="Picture 3">
              <a:extLst>
                <a:ext uri="{FF2B5EF4-FFF2-40B4-BE49-F238E27FC236}">
                  <a16:creationId xmlns:a16="http://schemas.microsoft.com/office/drawing/2014/main" id="{522F046B-F6EE-4E47-8C57-F6A6A097D297}"/>
                </a:ext>
              </a:extLst>
            </p:cNvPr>
            <p:cNvPicPr>
              <a:picLocks noChangeAspect="1"/>
            </p:cNvPicPr>
            <p:nvPr/>
          </p:nvPicPr>
          <p:blipFill>
            <a:blip r:embed="rId4"/>
            <a:stretch>
              <a:fillRect/>
            </a:stretch>
          </p:blipFill>
          <p:spPr>
            <a:xfrm>
              <a:off x="5136802" y="3703860"/>
              <a:ext cx="4612478" cy="2838753"/>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8" name="Straight Arrow Connector 7">
              <a:extLst>
                <a:ext uri="{FF2B5EF4-FFF2-40B4-BE49-F238E27FC236}">
                  <a16:creationId xmlns:a16="http://schemas.microsoft.com/office/drawing/2014/main" id="{284E1D9B-0FCE-1D41-A7A6-A153308B8FAB}"/>
                </a:ext>
              </a:extLst>
            </p:cNvPr>
            <p:cNvCxnSpPr>
              <a:cxnSpLocks/>
            </p:cNvCxnSpPr>
            <p:nvPr/>
          </p:nvCxnSpPr>
          <p:spPr>
            <a:xfrm>
              <a:off x="9872146" y="5166220"/>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B6D164AC-71BC-794A-89DA-C74C9525C31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48429" y="4861357"/>
              <a:ext cx="497423" cy="514575"/>
            </a:xfrm>
            <a:prstGeom prst="rect">
              <a:avLst/>
            </a:prstGeom>
          </p:spPr>
        </p:pic>
      </p:grpSp>
      <p:sp>
        <p:nvSpPr>
          <p:cNvPr id="2" name="TextBox 1">
            <a:extLst>
              <a:ext uri="{FF2B5EF4-FFF2-40B4-BE49-F238E27FC236}">
                <a16:creationId xmlns:a16="http://schemas.microsoft.com/office/drawing/2014/main" id="{0B08AF69-4D62-3045-9FEF-6800D771C946}"/>
              </a:ext>
            </a:extLst>
          </p:cNvPr>
          <p:cNvSpPr txBox="1"/>
          <p:nvPr/>
        </p:nvSpPr>
        <p:spPr>
          <a:xfrm>
            <a:off x="1756109" y="1119455"/>
            <a:ext cx="8298180" cy="1938992"/>
          </a:xfrm>
          <a:prstGeom prst="rect">
            <a:avLst/>
          </a:prstGeom>
          <a:solidFill>
            <a:schemeClr val="bg1">
              <a:alpha val="86117"/>
            </a:schemeClr>
          </a:solidFill>
        </p:spPr>
        <p:txBody>
          <a:bodyPr wrap="square" rtlCol="0">
            <a:spAutoFit/>
          </a:bodyPr>
          <a:lstStyle/>
          <a:p>
            <a:r>
              <a:rPr lang="en-US" sz="4000" dirty="0">
                <a:latin typeface="Abadi" panose="020B0604020104020204" pitchFamily="34" charset="0"/>
              </a:rPr>
              <a:t>Build a Personalized Online Course Recommender System with Machine Learning</a:t>
            </a:r>
          </a:p>
        </p:txBody>
      </p:sp>
      <p:sp>
        <p:nvSpPr>
          <p:cNvPr id="3" name="TextBox 2">
            <a:extLst>
              <a:ext uri="{FF2B5EF4-FFF2-40B4-BE49-F238E27FC236}">
                <a16:creationId xmlns:a16="http://schemas.microsoft.com/office/drawing/2014/main" id="{68217B24-331B-5040-859E-22982B3A88DA}"/>
              </a:ext>
            </a:extLst>
          </p:cNvPr>
          <p:cNvSpPr txBox="1"/>
          <p:nvPr/>
        </p:nvSpPr>
        <p:spPr>
          <a:xfrm>
            <a:off x="1756109" y="3433006"/>
            <a:ext cx="2514600" cy="646331"/>
          </a:xfrm>
          <a:prstGeom prst="rect">
            <a:avLst/>
          </a:prstGeom>
          <a:noFill/>
        </p:spPr>
        <p:txBody>
          <a:bodyPr wrap="square" lIns="91440" tIns="45720" rIns="91440" bIns="45720" rtlCol="0" anchor="t">
            <a:spAutoFit/>
          </a:bodyPr>
          <a:lstStyle/>
          <a:p>
            <a:r>
              <a:rPr lang="en-US"/>
              <a:t>Hasan Soufan</a:t>
            </a:r>
            <a:endParaRPr lang="en-US" dirty="0"/>
          </a:p>
          <a:p>
            <a:r>
              <a:rPr lang="en-US"/>
              <a:t>07-04-2026</a:t>
            </a:r>
            <a:endParaRPr lang="en-US" dirty="0"/>
          </a:p>
        </p:txBody>
      </p:sp>
      <p:cxnSp>
        <p:nvCxnSpPr>
          <p:cNvPr id="9" name="Straight Arrow Connector 8">
            <a:extLst>
              <a:ext uri="{FF2B5EF4-FFF2-40B4-BE49-F238E27FC236}">
                <a16:creationId xmlns:a16="http://schemas.microsoft.com/office/drawing/2014/main" id="{786D5268-B673-A742-9436-8948B1C5875A}"/>
              </a:ext>
            </a:extLst>
          </p:cNvPr>
          <p:cNvCxnSpPr>
            <a:cxnSpLocks/>
          </p:cNvCxnSpPr>
          <p:nvPr/>
        </p:nvCxnSpPr>
        <p:spPr>
          <a:xfrm>
            <a:off x="8997031" y="5688667"/>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622C788-5750-B448-9946-A3353F7249B8}"/>
              </a:ext>
            </a:extLst>
          </p:cNvPr>
          <p:cNvCxnSpPr>
            <a:cxnSpLocks/>
          </p:cNvCxnSpPr>
          <p:nvPr/>
        </p:nvCxnSpPr>
        <p:spPr>
          <a:xfrm>
            <a:off x="8997031" y="5197126"/>
            <a:ext cx="885808" cy="0"/>
          </a:xfrm>
          <a:prstGeom prst="straightConnector1">
            <a:avLst/>
          </a:prstGeom>
          <a:ln w="19050">
            <a:solidFill>
              <a:schemeClr val="tx1"/>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B8BB15B-3863-C146-97D8-D3D09F989A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82839" y="5387139"/>
            <a:ext cx="497423" cy="514575"/>
          </a:xfrm>
          <a:prstGeom prst="rect">
            <a:avLst/>
          </a:prstGeom>
        </p:spPr>
      </p:pic>
    </p:spTree>
    <p:extLst>
      <p:ext uri="{BB962C8B-B14F-4D97-AF65-F5344CB8AC3E}">
        <p14:creationId xmlns:p14="http://schemas.microsoft.com/office/powerpoint/2010/main" val="2559186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fld id="{5075537C-CA84-1446-933C-8E9D027F9201}" type="slidenum">
              <a:rPr lang="en-US" smtClean="0"/>
              <a:pPr/>
              <a:t>2</a:t>
            </a:fld>
            <a:endParaRPr lang="en-US" dirty="0"/>
          </a:p>
        </p:txBody>
      </p:sp>
      <p:sp>
        <p:nvSpPr>
          <p:cNvPr id="10" name="Content Placeholder 2">
            <a:extLst>
              <a:ext uri="{FF2B5EF4-FFF2-40B4-BE49-F238E27FC236}">
                <a16:creationId xmlns:a16="http://schemas.microsoft.com/office/drawing/2014/main" id="{79EF1473-3ADD-43F1-A495-57AAB7FD902F}"/>
              </a:ext>
            </a:extLst>
          </p:cNvPr>
          <p:cNvSpPr txBox="1">
            <a:spLocks/>
          </p:cNvSpPr>
          <p:nvPr/>
        </p:nvSpPr>
        <p:spPr>
          <a:xfrm>
            <a:off x="834872" y="1770340"/>
            <a:ext cx="10515600" cy="3320824"/>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00000"/>
              </a:lnSpc>
              <a:spcBef>
                <a:spcPts val="1400"/>
              </a:spcBef>
            </a:pPr>
            <a:r>
              <a:rPr lang="en-US" sz="2000" dirty="0">
                <a:solidFill>
                  <a:schemeClr val="accent3">
                    <a:lumMod val="25000"/>
                  </a:schemeClr>
                </a:solidFill>
                <a:latin typeface="Abadi"/>
              </a:rPr>
              <a:t>Introduction and Background</a:t>
            </a:r>
          </a:p>
          <a:p>
            <a:pPr>
              <a:lnSpc>
                <a:spcPct val="100000"/>
              </a:lnSpc>
              <a:spcBef>
                <a:spcPts val="1400"/>
              </a:spcBef>
            </a:pPr>
            <a:r>
              <a:rPr lang="en-US" sz="2000" dirty="0">
                <a:solidFill>
                  <a:schemeClr val="accent3">
                    <a:lumMod val="25000"/>
                  </a:schemeClr>
                </a:solidFill>
                <a:latin typeface="Abadi"/>
              </a:rPr>
              <a:t>Exploratory Data Analysis</a:t>
            </a:r>
          </a:p>
          <a:p>
            <a:pPr>
              <a:lnSpc>
                <a:spcPct val="100000"/>
              </a:lnSpc>
              <a:spcBef>
                <a:spcPts val="1400"/>
              </a:spcBef>
            </a:pPr>
            <a:r>
              <a:rPr lang="en-US" sz="2000" dirty="0">
                <a:solidFill>
                  <a:schemeClr val="accent3">
                    <a:lumMod val="25000"/>
                  </a:schemeClr>
                </a:solidFill>
                <a:latin typeface="Abadi"/>
              </a:rPr>
              <a:t>Content-based Recommender System using Unsupervised Learning</a:t>
            </a:r>
          </a:p>
          <a:p>
            <a:pPr>
              <a:lnSpc>
                <a:spcPct val="100000"/>
              </a:lnSpc>
              <a:spcBef>
                <a:spcPts val="1400"/>
              </a:spcBef>
            </a:pPr>
            <a:r>
              <a:rPr lang="en-US" sz="2000" dirty="0">
                <a:solidFill>
                  <a:schemeClr val="accent3">
                    <a:lumMod val="25000"/>
                  </a:schemeClr>
                </a:solidFill>
                <a:latin typeface="Abadi"/>
              </a:rPr>
              <a:t>Collaborative-filtering based Recommender System using Supervised learning</a:t>
            </a:r>
          </a:p>
          <a:p>
            <a:pPr>
              <a:lnSpc>
                <a:spcPct val="100000"/>
              </a:lnSpc>
              <a:spcBef>
                <a:spcPts val="1400"/>
              </a:spcBef>
            </a:pPr>
            <a:r>
              <a:rPr lang="en-US" sz="2000" dirty="0">
                <a:solidFill>
                  <a:schemeClr val="accent3">
                    <a:lumMod val="25000"/>
                  </a:schemeClr>
                </a:solidFill>
                <a:latin typeface="Abadi"/>
              </a:rPr>
              <a:t>Conclusion</a:t>
            </a:r>
          </a:p>
          <a:p>
            <a:pPr>
              <a:lnSpc>
                <a:spcPct val="100000"/>
              </a:lnSpc>
              <a:spcBef>
                <a:spcPts val="1400"/>
              </a:spcBef>
            </a:pPr>
            <a:r>
              <a:rPr lang="en-US" sz="2000" dirty="0">
                <a:solidFill>
                  <a:schemeClr val="accent3">
                    <a:lumMod val="25000"/>
                  </a:schemeClr>
                </a:solidFill>
                <a:latin typeface="Abadi"/>
              </a:rPr>
              <a:t>Appendix</a:t>
            </a:r>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770011" y="538650"/>
            <a:ext cx="10515600" cy="549049"/>
          </a:xfrm>
          <a:prstGeom prst="rect">
            <a:avLst/>
          </a:prstGeom>
        </p:spPr>
        <p:txBody>
          <a:bodyPr vert="horz" lIns="91440" tIns="45720" rIns="91440" bIns="45720" rtlCol="0" anchor="ctr">
            <a:normAutofit fontScale="92500" lnSpcReduction="20000"/>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sz="4300" dirty="0">
                <a:solidFill>
                  <a:schemeClr val="accent4">
                    <a:lumMod val="76000"/>
                  </a:schemeClr>
                </a:solidFill>
                <a:latin typeface="Abadi"/>
              </a:rPr>
              <a:t>Outline</a:t>
            </a:r>
            <a:endParaRPr lang="en-US" dirty="0">
              <a:solidFill>
                <a:schemeClr val="accent4">
                  <a:lumMod val="76000"/>
                </a:schemeClr>
              </a:solidFill>
              <a:latin typeface="Abadi"/>
            </a:endParaRPr>
          </a:p>
        </p:txBody>
      </p:sp>
    </p:spTree>
    <p:extLst>
      <p:ext uri="{BB962C8B-B14F-4D97-AF65-F5344CB8AC3E}">
        <p14:creationId xmlns:p14="http://schemas.microsoft.com/office/powerpoint/2010/main" val="724038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403FD9-22AB-4833-9FE0-E1E67C96862D}"/>
              </a:ext>
            </a:extLst>
          </p:cNvPr>
          <p:cNvSpPr>
            <a:spLocks noGrp="1"/>
          </p:cNvSpPr>
          <p:nvPr>
            <p:ph type="sldNum" sz="quarter" idx="12"/>
          </p:nvPr>
        </p:nvSpPr>
        <p:spPr/>
        <p:txBody>
          <a:bodyPr anchor="ctr">
            <a:normAutofit/>
          </a:bodyPr>
          <a:lstStyle/>
          <a:p>
            <a:pPr>
              <a:spcAft>
                <a:spcPts val="600"/>
              </a:spcAft>
            </a:pPr>
            <a:fld id="{5075537C-CA84-1446-933C-8E9D027F9201}" type="slidenum">
              <a:rPr lang="en-US" smtClean="0"/>
              <a:pPr>
                <a:spcAft>
                  <a:spcPts val="600"/>
                </a:spcAft>
              </a:pPr>
              <a:t>3</a:t>
            </a:fld>
            <a:endParaRPr lang="en-US" dirty="0"/>
          </a:p>
        </p:txBody>
      </p:sp>
      <p:sp>
        <p:nvSpPr>
          <p:cNvPr id="19" name="Title 1">
            <a:extLst>
              <a:ext uri="{FF2B5EF4-FFF2-40B4-BE49-F238E27FC236}">
                <a16:creationId xmlns:a16="http://schemas.microsoft.com/office/drawing/2014/main" id="{6CA66F18-AF00-434A-AB3C-61097BEAE5FA}"/>
              </a:ext>
            </a:extLst>
          </p:cNvPr>
          <p:cNvSpPr txBox="1">
            <a:spLocks/>
          </p:cNvSpPr>
          <p:nvPr/>
        </p:nvSpPr>
        <p:spPr>
          <a:xfrm>
            <a:off x="828068" y="538650"/>
            <a:ext cx="10530114"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chemeClr val="accent4">
                    <a:lumMod val="76000"/>
                  </a:schemeClr>
                </a:solidFill>
                <a:latin typeface="Abadi"/>
              </a:rPr>
              <a:t>Introduction</a:t>
            </a:r>
            <a:endParaRPr lang="en-US">
              <a:solidFill>
                <a:schemeClr val="accent4">
                  <a:lumMod val="76000"/>
                </a:schemeClr>
              </a:solidFill>
            </a:endParaRPr>
          </a:p>
        </p:txBody>
      </p:sp>
      <p:sp>
        <p:nvSpPr>
          <p:cNvPr id="5" name="Content Placeholder 2">
            <a:extLst>
              <a:ext uri="{FF2B5EF4-FFF2-40B4-BE49-F238E27FC236}">
                <a16:creationId xmlns:a16="http://schemas.microsoft.com/office/drawing/2014/main" id="{8E999A1B-8752-489F-A63B-EA2F60186B52}"/>
              </a:ext>
            </a:extLst>
          </p:cNvPr>
          <p:cNvSpPr txBox="1">
            <a:spLocks/>
          </p:cNvSpPr>
          <p:nvPr/>
        </p:nvSpPr>
        <p:spPr>
          <a:xfrm>
            <a:off x="1000450" y="1999486"/>
            <a:ext cx="10191086" cy="28691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spcBef>
                <a:spcPts val="1400"/>
              </a:spcBef>
            </a:pPr>
            <a:r>
              <a:rPr lang="en-US" sz="2000" dirty="0">
                <a:solidFill>
                  <a:schemeClr val="accent3">
                    <a:lumMod val="25000"/>
                  </a:schemeClr>
                </a:solidFill>
                <a:latin typeface="Abadi"/>
              </a:rPr>
              <a:t>Learner across the world increasingly seek to acquire skills in leading technologies such as Machine Learning, Ai, Data Science, Cloud, App Development, </a:t>
            </a:r>
            <a:r>
              <a:rPr lang="en-US" sz="2000" dirty="0" err="1">
                <a:solidFill>
                  <a:schemeClr val="accent3">
                    <a:lumMod val="25000"/>
                  </a:schemeClr>
                </a:solidFill>
                <a:latin typeface="Abadi"/>
              </a:rPr>
              <a:t>etc</a:t>
            </a:r>
            <a:r>
              <a:rPr lang="en-US" sz="2000" dirty="0">
                <a:solidFill>
                  <a:schemeClr val="accent3">
                    <a:lumMod val="25000"/>
                  </a:schemeClr>
                </a:solidFill>
                <a:latin typeface="Abadi"/>
              </a:rPr>
              <a:t>, However with the growing number of available courses, it becomes difficult for the learners to identify relevant content efficiently. To improve the learning experience a recommender system can users discover aligned with their interests and effectively guide their learning path.</a:t>
            </a:r>
          </a:p>
          <a:p>
            <a:pPr>
              <a:spcBef>
                <a:spcPts val="1400"/>
              </a:spcBef>
            </a:pPr>
            <a:r>
              <a:rPr lang="en-US" sz="2000" dirty="0">
                <a:solidFill>
                  <a:schemeClr val="accent3">
                    <a:lumMod val="25000"/>
                  </a:schemeClr>
                </a:solidFill>
                <a:latin typeface="Abadi"/>
              </a:rPr>
              <a:t>Currently, learners struggle to discover relevant courses due to the large volume of available content. This led to inefficient course selection and reduced engagement, ultimately affecting learning outcomes and platform effectiveness.</a:t>
            </a:r>
          </a:p>
        </p:txBody>
      </p:sp>
    </p:spTree>
    <p:extLst>
      <p:ext uri="{BB962C8B-B14F-4D97-AF65-F5344CB8AC3E}">
        <p14:creationId xmlns:p14="http://schemas.microsoft.com/office/powerpoint/2010/main" val="25600613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Exploratory Data Analysis</a:t>
            </a:r>
            <a:endParaRPr lang="en-US" dirty="0"/>
          </a:p>
        </p:txBody>
      </p:sp>
      <p:pic>
        <p:nvPicPr>
          <p:cNvPr id="36" name="Graphic 35">
            <a:extLst>
              <a:ext uri="{FF2B5EF4-FFF2-40B4-BE49-F238E27FC236}">
                <a16:creationId xmlns:a16="http://schemas.microsoft.com/office/drawing/2014/main" id="{693C86CF-B31B-4549-BA68-C5C2DB4748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833055" y="5553777"/>
            <a:ext cx="1028790" cy="1028790"/>
          </a:xfrm>
          <a:prstGeom prst="rect">
            <a:avLst/>
          </a:prstGeom>
        </p:spPr>
      </p:pic>
    </p:spTree>
    <p:extLst>
      <p:ext uri="{BB962C8B-B14F-4D97-AF65-F5344CB8AC3E}">
        <p14:creationId xmlns:p14="http://schemas.microsoft.com/office/powerpoint/2010/main" val="36088347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Course counts per genre</a:t>
            </a:r>
          </a:p>
        </p:txBody>
      </p:sp>
      <p:sp>
        <p:nvSpPr>
          <p:cNvPr id="8" name="Content Placeholder 4">
            <a:extLst>
              <a:ext uri="{FF2B5EF4-FFF2-40B4-BE49-F238E27FC236}">
                <a16:creationId xmlns:a16="http://schemas.microsoft.com/office/drawing/2014/main" id="{8653FA46-2212-42E4-9D89-321A9B15A6C2}"/>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chart shows the distribution of courses enrollments across different categories.</a:t>
            </a:r>
          </a:p>
          <a:p>
            <a:pPr>
              <a:buFont typeface="Calibri" panose="020B0604020202020204" pitchFamily="34" charset="0"/>
              <a:buChar char="-"/>
            </a:pPr>
            <a:r>
              <a:rPr lang="en-US" sz="2000" dirty="0">
                <a:solidFill>
                  <a:schemeClr val="accent4">
                    <a:lumMod val="49000"/>
                  </a:schemeClr>
                </a:solidFill>
                <a:latin typeface="Abadi"/>
              </a:rPr>
              <a:t>The x axis represent the courses genre, and the y axis </a:t>
            </a:r>
            <a:r>
              <a:rPr lang="en-US" sz="2000">
                <a:solidFill>
                  <a:schemeClr val="accent4">
                    <a:lumMod val="49000"/>
                  </a:schemeClr>
                </a:solidFill>
                <a:latin typeface="Abadi"/>
              </a:rPr>
              <a:t>show the number of enrollments.</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We can see that </a:t>
            </a:r>
            <a:r>
              <a:rPr lang="en-US" sz="2000" dirty="0" err="1">
                <a:solidFill>
                  <a:schemeClr val="accent4">
                    <a:lumMod val="49000"/>
                  </a:schemeClr>
                </a:solidFill>
                <a:latin typeface="Abadi"/>
              </a:rPr>
              <a:t>BackendDev</a:t>
            </a:r>
            <a:r>
              <a:rPr lang="en-US" sz="2000" dirty="0">
                <a:solidFill>
                  <a:schemeClr val="accent4">
                    <a:lumMod val="49000"/>
                  </a:schemeClr>
                </a:solidFill>
                <a:latin typeface="Abadi"/>
              </a:rPr>
              <a:t> has the highest enrollments and the </a:t>
            </a:r>
            <a:r>
              <a:rPr lang="en-US" sz="2000" dirty="0" err="1">
                <a:solidFill>
                  <a:schemeClr val="accent4">
                    <a:lumMod val="49000"/>
                  </a:schemeClr>
                </a:solidFill>
                <a:latin typeface="Abadi"/>
              </a:rPr>
              <a:t>Blcokchain</a:t>
            </a:r>
            <a:r>
              <a:rPr lang="en-US" sz="2000" dirty="0">
                <a:solidFill>
                  <a:schemeClr val="accent4">
                    <a:lumMod val="49000"/>
                  </a:schemeClr>
                </a:solidFill>
                <a:latin typeface="Abadi"/>
              </a:rPr>
              <a:t> has the lowest.</a:t>
            </a:r>
          </a:p>
          <a:p>
            <a:pPr>
              <a:buFont typeface="Calibri" panose="020B0604020202020204" pitchFamily="34" charset="0"/>
              <a:buChar char="-"/>
            </a:pPr>
            <a:r>
              <a:rPr lang="en-US" sz="2000" dirty="0">
                <a:solidFill>
                  <a:schemeClr val="accent4">
                    <a:lumMod val="49000"/>
                  </a:schemeClr>
                </a:solidFill>
                <a:latin typeface="Abadi"/>
              </a:rPr>
              <a:t>Following the trend we can see the learners are more </a:t>
            </a:r>
            <a:r>
              <a:rPr lang="en-US" sz="2000" dirty="0" err="1">
                <a:solidFill>
                  <a:schemeClr val="accent4">
                    <a:lumMod val="49000"/>
                  </a:schemeClr>
                </a:solidFill>
                <a:latin typeface="Abadi"/>
              </a:rPr>
              <a:t>interstead</a:t>
            </a:r>
            <a:r>
              <a:rPr lang="en-US" sz="2000" dirty="0">
                <a:solidFill>
                  <a:schemeClr val="accent4">
                    <a:lumMod val="49000"/>
                  </a:schemeClr>
                </a:solidFill>
                <a:latin typeface="Abadi"/>
              </a:rPr>
              <a:t> in Data, ML and Backend skills.</a:t>
            </a:r>
          </a:p>
          <a:p>
            <a:pPr>
              <a:buFont typeface="Calibri"/>
              <a:buChar char="-"/>
            </a:pPr>
            <a:endParaRPr lang="en-US" sz="2200" dirty="0">
              <a:solidFill>
                <a:srgbClr val="1C7DDB"/>
              </a:solidFill>
              <a:latin typeface="Abadi"/>
            </a:endParaRPr>
          </a:p>
        </p:txBody>
      </p:sp>
      <p:pic>
        <p:nvPicPr>
          <p:cNvPr id="2" name="Picture 1">
            <a:extLst>
              <a:ext uri="{FF2B5EF4-FFF2-40B4-BE49-F238E27FC236}">
                <a16:creationId xmlns:a16="http://schemas.microsoft.com/office/drawing/2014/main" id="{2FE59563-7F59-2956-4509-67E2EBEC9178}"/>
              </a:ext>
            </a:extLst>
          </p:cNvPr>
          <p:cNvPicPr>
            <a:picLocks noChangeAspect="1"/>
          </p:cNvPicPr>
          <p:nvPr/>
        </p:nvPicPr>
        <p:blipFill>
          <a:blip r:embed="rId2"/>
          <a:stretch>
            <a:fillRect/>
          </a:stretch>
        </p:blipFill>
        <p:spPr>
          <a:xfrm>
            <a:off x="7438241" y="1790113"/>
            <a:ext cx="4131762" cy="3998020"/>
          </a:xfrm>
          <a:prstGeom prst="rect">
            <a:avLst/>
          </a:prstGeom>
        </p:spPr>
      </p:pic>
    </p:spTree>
    <p:extLst>
      <p:ext uri="{BB962C8B-B14F-4D97-AF65-F5344CB8AC3E}">
        <p14:creationId xmlns:p14="http://schemas.microsoft.com/office/powerpoint/2010/main" val="27655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Course enrollment distribution</a:t>
            </a:r>
          </a:p>
        </p:txBody>
      </p:sp>
      <p:sp>
        <p:nvSpPr>
          <p:cNvPr id="5" name="Content Placeholder 4">
            <a:extLst>
              <a:ext uri="{FF2B5EF4-FFF2-40B4-BE49-F238E27FC236}">
                <a16:creationId xmlns:a16="http://schemas.microsoft.com/office/drawing/2014/main" id="{BD9502B7-709A-E4A6-293D-BBA0B8E28F42}"/>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chart shows the distribution of </a:t>
            </a:r>
            <a:r>
              <a:rPr lang="en-US" sz="2000">
                <a:solidFill>
                  <a:schemeClr val="accent4">
                    <a:lumMod val="49000"/>
                  </a:schemeClr>
                </a:solidFill>
                <a:latin typeface="Abadi"/>
              </a:rPr>
              <a:t>courses enrollments across users.</a:t>
            </a:r>
          </a:p>
          <a:p>
            <a:pPr>
              <a:buFont typeface="Calibri" panose="020B0604020202020204" pitchFamily="34" charset="0"/>
              <a:buChar char="-"/>
            </a:pPr>
            <a:r>
              <a:rPr lang="en-US" sz="2000">
                <a:solidFill>
                  <a:schemeClr val="accent4">
                    <a:lumMod val="49000"/>
                  </a:schemeClr>
                </a:solidFill>
                <a:latin typeface="Abadi"/>
              </a:rPr>
              <a:t>The x axis represent the courses number, and the y axis show the number of users (count).</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 most users are </a:t>
            </a:r>
            <a:r>
              <a:rPr lang="en-US" sz="2000">
                <a:solidFill>
                  <a:schemeClr val="accent4">
                    <a:lumMod val="49000"/>
                  </a:schemeClr>
                </a:solidFill>
                <a:latin typeface="Abadi"/>
              </a:rPr>
              <a:t>concentrated below 10 courses.</a:t>
            </a:r>
          </a:p>
          <a:p>
            <a:pPr>
              <a:buFont typeface="Calibri" panose="020B0604020202020204" pitchFamily="34" charset="0"/>
              <a:buChar char="-"/>
            </a:pPr>
            <a:r>
              <a:rPr lang="en-US" sz="2000" dirty="0">
                <a:solidFill>
                  <a:schemeClr val="accent4">
                    <a:lumMod val="49000"/>
                  </a:schemeClr>
                </a:solidFill>
                <a:latin typeface="Abadi"/>
              </a:rPr>
              <a:t>The </a:t>
            </a:r>
            <a:r>
              <a:rPr lang="en-US" sz="2000" dirty="0" err="1">
                <a:solidFill>
                  <a:schemeClr val="accent4">
                    <a:lumMod val="49000"/>
                  </a:schemeClr>
                </a:solidFill>
                <a:latin typeface="Abadi"/>
              </a:rPr>
              <a:t>distri</a:t>
            </a:r>
            <a:r>
              <a:rPr lang="en-US" sz="2000" dirty="0">
                <a:solidFill>
                  <a:schemeClr val="accent4">
                    <a:lumMod val="49000"/>
                  </a:schemeClr>
                </a:solidFill>
                <a:latin typeface="Abadi"/>
              </a:rPr>
              <a:t>bution is skewed to the right indicating that while most users take few courses, a small number of users enroll in many courses</a:t>
            </a:r>
          </a:p>
        </p:txBody>
      </p:sp>
      <p:pic>
        <p:nvPicPr>
          <p:cNvPr id="9" name="Picture 8" descr="A graph of a number of blue lines&#10;&#10;AI-generated content may be incorrect.">
            <a:extLst>
              <a:ext uri="{FF2B5EF4-FFF2-40B4-BE49-F238E27FC236}">
                <a16:creationId xmlns:a16="http://schemas.microsoft.com/office/drawing/2014/main" id="{E51FD8EB-949A-8664-B048-30130343E6A6}"/>
              </a:ext>
            </a:extLst>
          </p:cNvPr>
          <p:cNvPicPr>
            <a:picLocks noChangeAspect="1"/>
          </p:cNvPicPr>
          <p:nvPr/>
        </p:nvPicPr>
        <p:blipFill>
          <a:blip r:embed="rId2"/>
          <a:stretch>
            <a:fillRect/>
          </a:stretch>
        </p:blipFill>
        <p:spPr>
          <a:xfrm>
            <a:off x="7446463" y="1796115"/>
            <a:ext cx="4480665" cy="4006893"/>
          </a:xfrm>
          <a:prstGeom prst="rect">
            <a:avLst/>
          </a:prstGeom>
        </p:spPr>
      </p:pic>
    </p:spTree>
    <p:extLst>
      <p:ext uri="{BB962C8B-B14F-4D97-AF65-F5344CB8AC3E}">
        <p14:creationId xmlns:p14="http://schemas.microsoft.com/office/powerpoint/2010/main" val="2945704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20 most popular courses</a:t>
            </a:r>
          </a:p>
        </p:txBody>
      </p:sp>
      <p:sp>
        <p:nvSpPr>
          <p:cNvPr id="5" name="Content Placeholder 4">
            <a:extLst>
              <a:ext uri="{FF2B5EF4-FFF2-40B4-BE49-F238E27FC236}">
                <a16:creationId xmlns:a16="http://schemas.microsoft.com/office/drawing/2014/main" id="{08F8B35F-65D1-F978-0B92-8BDC218A04B4}"/>
              </a:ext>
            </a:extLst>
          </p:cNvPr>
          <p:cNvSpPr txBox="1">
            <a:spLocks/>
          </p:cNvSpPr>
          <p:nvPr/>
        </p:nvSpPr>
        <p:spPr>
          <a:xfrm>
            <a:off x="834787" y="1792289"/>
            <a:ext cx="635069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The top 20 courses show a clear concentration of enrollments in a few highly popular courses, with the </a:t>
            </a:r>
            <a:r>
              <a:rPr lang="en-US" sz="2000">
                <a:solidFill>
                  <a:schemeClr val="accent4">
                    <a:lumMod val="49000"/>
                  </a:schemeClr>
                </a:solidFill>
                <a:latin typeface="Abadi"/>
              </a:rPr>
              <a:t>top courses exceeding 13000 enrollments.</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 After the top 5, there is </a:t>
            </a:r>
            <a:r>
              <a:rPr lang="en-US" sz="2000">
                <a:solidFill>
                  <a:schemeClr val="accent4">
                    <a:lumMod val="49000"/>
                  </a:schemeClr>
                </a:solidFill>
                <a:latin typeface="Abadi"/>
              </a:rPr>
              <a:t>noticeable drop, with enrollments decreasing to around 8000 and below.</a:t>
            </a:r>
            <a:endParaRPr lang="en-US" sz="2000" dirty="0">
              <a:solidFill>
                <a:schemeClr val="accent4">
                  <a:lumMod val="49000"/>
                </a:schemeClr>
              </a:solidFill>
              <a:latin typeface="Abadi"/>
            </a:endParaRPr>
          </a:p>
          <a:p>
            <a:pPr>
              <a:buFont typeface="Calibri" panose="020B0604020202020204" pitchFamily="34" charset="0"/>
              <a:buChar char="-"/>
            </a:pPr>
            <a:r>
              <a:rPr lang="en-US" sz="2000" dirty="0">
                <a:solidFill>
                  <a:schemeClr val="accent4">
                    <a:lumMod val="49000"/>
                  </a:schemeClr>
                </a:solidFill>
                <a:latin typeface="Abadi"/>
              </a:rPr>
              <a:t>This indicate that a small number of courses dominate users interest.</a:t>
            </a:r>
          </a:p>
        </p:txBody>
      </p:sp>
      <p:pic>
        <p:nvPicPr>
          <p:cNvPr id="9" name="Picture 8" descr="A screenshot of a computer&#10;&#10;AI-generated content may be incorrect.">
            <a:extLst>
              <a:ext uri="{FF2B5EF4-FFF2-40B4-BE49-F238E27FC236}">
                <a16:creationId xmlns:a16="http://schemas.microsoft.com/office/drawing/2014/main" id="{502717EB-545A-CF61-D533-C8F441A8259F}"/>
              </a:ext>
            </a:extLst>
          </p:cNvPr>
          <p:cNvPicPr>
            <a:picLocks noChangeAspect="1"/>
          </p:cNvPicPr>
          <p:nvPr/>
        </p:nvPicPr>
        <p:blipFill>
          <a:blip r:embed="rId2"/>
          <a:stretch>
            <a:fillRect/>
          </a:stretch>
        </p:blipFill>
        <p:spPr>
          <a:xfrm>
            <a:off x="7922909" y="1193887"/>
            <a:ext cx="3433827" cy="5190473"/>
          </a:xfrm>
          <a:prstGeom prst="rect">
            <a:avLst/>
          </a:prstGeom>
        </p:spPr>
      </p:pic>
    </p:spTree>
    <p:extLst>
      <p:ext uri="{BB962C8B-B14F-4D97-AF65-F5344CB8AC3E}">
        <p14:creationId xmlns:p14="http://schemas.microsoft.com/office/powerpoint/2010/main" val="28187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Word cloud of course titles</a:t>
            </a:r>
          </a:p>
        </p:txBody>
      </p:sp>
      <p:pic>
        <p:nvPicPr>
          <p:cNvPr id="9" name="Picture 8" descr="A close-up of words&#10;&#10;AI-generated content may be incorrect.">
            <a:extLst>
              <a:ext uri="{FF2B5EF4-FFF2-40B4-BE49-F238E27FC236}">
                <a16:creationId xmlns:a16="http://schemas.microsoft.com/office/drawing/2014/main" id="{33F391F5-DB2B-E828-B12D-FBF43E93055F}"/>
              </a:ext>
            </a:extLst>
          </p:cNvPr>
          <p:cNvPicPr>
            <a:picLocks noChangeAspect="1"/>
          </p:cNvPicPr>
          <p:nvPr/>
        </p:nvPicPr>
        <p:blipFill>
          <a:blip r:embed="rId2"/>
          <a:stretch>
            <a:fillRect/>
          </a:stretch>
        </p:blipFill>
        <p:spPr>
          <a:xfrm>
            <a:off x="5690340" y="1794811"/>
            <a:ext cx="6124444" cy="4009504"/>
          </a:xfrm>
          <a:prstGeom prst="rect">
            <a:avLst/>
          </a:prstGeom>
        </p:spPr>
      </p:pic>
      <p:sp>
        <p:nvSpPr>
          <p:cNvPr id="12" name="Content Placeholder 4">
            <a:extLst>
              <a:ext uri="{FF2B5EF4-FFF2-40B4-BE49-F238E27FC236}">
                <a16:creationId xmlns:a16="http://schemas.microsoft.com/office/drawing/2014/main" id="{A65D499B-85FA-65FF-E5D4-F78F56F25C8A}"/>
              </a:ext>
            </a:extLst>
          </p:cNvPr>
          <p:cNvSpPr txBox="1">
            <a:spLocks/>
          </p:cNvSpPr>
          <p:nvPr/>
        </p:nvSpPr>
        <p:spPr>
          <a:xfrm>
            <a:off x="834787" y="1792289"/>
            <a:ext cx="4492669"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This word cloud represent the most frequent keywords across the courses titles and descriptions, larger words indicate higher frequency and importance.</a:t>
            </a:r>
          </a:p>
          <a:p>
            <a:pPr>
              <a:buFont typeface="Calibri" panose="020B0604020202020204" pitchFamily="34" charset="0"/>
              <a:buChar char="-"/>
            </a:pPr>
            <a:r>
              <a:rPr lang="en-US" sz="2000" dirty="0">
                <a:solidFill>
                  <a:schemeClr val="accent4">
                    <a:lumMod val="49000"/>
                  </a:schemeClr>
                </a:solidFill>
                <a:latin typeface="Abadi"/>
              </a:rPr>
              <a:t>We can observe that words like data science, data, python and machine learning dominate, suggesting a strong focus on data-driven and AI related topics.</a:t>
            </a:r>
          </a:p>
        </p:txBody>
      </p:sp>
    </p:spTree>
    <p:extLst>
      <p:ext uri="{BB962C8B-B14F-4D97-AF65-F5344CB8AC3E}">
        <p14:creationId xmlns:p14="http://schemas.microsoft.com/office/powerpoint/2010/main" val="1268933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Content-based Recommender System using Unsupervised Learning</a:t>
            </a:r>
            <a:endParaRPr lang="en-US" dirty="0"/>
          </a:p>
        </p:txBody>
      </p:sp>
      <p:grpSp>
        <p:nvGrpSpPr>
          <p:cNvPr id="6" name="Group 5">
            <a:extLst>
              <a:ext uri="{FF2B5EF4-FFF2-40B4-BE49-F238E27FC236}">
                <a16:creationId xmlns:a16="http://schemas.microsoft.com/office/drawing/2014/main" id="{3E5A2644-0171-6540-A231-9FCA3C81BFE2}"/>
              </a:ext>
            </a:extLst>
          </p:cNvPr>
          <p:cNvGrpSpPr/>
          <p:nvPr/>
        </p:nvGrpSpPr>
        <p:grpSpPr>
          <a:xfrm>
            <a:off x="10108253" y="4562475"/>
            <a:ext cx="1777449" cy="1936444"/>
            <a:chOff x="6518030" y="1903899"/>
            <a:chExt cx="1777449" cy="1936444"/>
          </a:xfrm>
        </p:grpSpPr>
        <p:grpSp>
          <p:nvGrpSpPr>
            <p:cNvPr id="11" name="Group 10">
              <a:extLst>
                <a:ext uri="{FF2B5EF4-FFF2-40B4-BE49-F238E27FC236}">
                  <a16:creationId xmlns:a16="http://schemas.microsoft.com/office/drawing/2014/main" id="{A41B8904-28C2-BB44-8166-C42C96ED6936}"/>
                </a:ext>
              </a:extLst>
            </p:cNvPr>
            <p:cNvGrpSpPr/>
            <p:nvPr/>
          </p:nvGrpSpPr>
          <p:grpSpPr>
            <a:xfrm>
              <a:off x="6580009" y="2268106"/>
              <a:ext cx="1530912" cy="1268847"/>
              <a:chOff x="6371670" y="1861616"/>
              <a:chExt cx="1530912" cy="1268847"/>
            </a:xfrm>
          </p:grpSpPr>
          <p:grpSp>
            <p:nvGrpSpPr>
              <p:cNvPr id="12" name="Group 11">
                <a:extLst>
                  <a:ext uri="{FF2B5EF4-FFF2-40B4-BE49-F238E27FC236}">
                    <a16:creationId xmlns:a16="http://schemas.microsoft.com/office/drawing/2014/main" id="{7636D0BA-2B52-A240-B7B8-0256F4E2A394}"/>
                  </a:ext>
                </a:extLst>
              </p:cNvPr>
              <p:cNvGrpSpPr/>
              <p:nvPr/>
            </p:nvGrpSpPr>
            <p:grpSpPr>
              <a:xfrm>
                <a:off x="6371670" y="2318149"/>
                <a:ext cx="812314" cy="812314"/>
                <a:chOff x="1306239" y="1551525"/>
                <a:chExt cx="2116181" cy="2116182"/>
              </a:xfrm>
              <a:noFill/>
            </p:grpSpPr>
            <p:sp>
              <p:nvSpPr>
                <p:cNvPr id="25" name="Oval 24">
                  <a:extLst>
                    <a:ext uri="{FF2B5EF4-FFF2-40B4-BE49-F238E27FC236}">
                      <a16:creationId xmlns:a16="http://schemas.microsoft.com/office/drawing/2014/main" id="{24F59816-7FAC-974F-A8D7-19B047D553D1}"/>
                    </a:ext>
                  </a:extLst>
                </p:cNvPr>
                <p:cNvSpPr/>
                <p:nvPr/>
              </p:nvSpPr>
              <p:spPr>
                <a:xfrm>
                  <a:off x="1306239" y="1551525"/>
                  <a:ext cx="2116181"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C838075-FE41-3C47-B7F8-7CD30B06125D}"/>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E57CEC24-7385-FC49-A319-AB8C2130A10A}"/>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BC96BD4-7E7A-8445-86C6-6BF36139BBEF}"/>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B72FE188-017A-B643-9B83-F2A767174EFF}"/>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2A566CA9-49EE-AB41-83BE-DE726A76CE6A}"/>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Oval 30">
                  <a:extLst>
                    <a:ext uri="{FF2B5EF4-FFF2-40B4-BE49-F238E27FC236}">
                      <a16:creationId xmlns:a16="http://schemas.microsoft.com/office/drawing/2014/main" id="{F5C28428-062D-E14C-82E6-DA94F7EF31AB}"/>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769CEB11-DD69-474E-BBAE-8C10177D3C3F}"/>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E68BDB6-C52E-DD4A-B920-6CBEF8EE3F5F}"/>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6BE7FA6-4444-D940-BE86-2E836B237A97}"/>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Oval 34">
                  <a:extLst>
                    <a:ext uri="{FF2B5EF4-FFF2-40B4-BE49-F238E27FC236}">
                      <a16:creationId xmlns:a16="http://schemas.microsoft.com/office/drawing/2014/main" id="{53476B79-2F43-EC40-8768-FE48D7B6AA2E}"/>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179D4550-5CE1-9E49-9733-CBA34FE0DD54}"/>
                  </a:ext>
                </a:extLst>
              </p:cNvPr>
              <p:cNvGrpSpPr/>
              <p:nvPr/>
            </p:nvGrpSpPr>
            <p:grpSpPr>
              <a:xfrm>
                <a:off x="7090268" y="1861616"/>
                <a:ext cx="812314" cy="812314"/>
                <a:chOff x="1306241" y="1551525"/>
                <a:chExt cx="2116182" cy="2116182"/>
              </a:xfrm>
              <a:noFill/>
            </p:grpSpPr>
            <p:sp>
              <p:nvSpPr>
                <p:cNvPr id="14" name="Oval 13">
                  <a:extLst>
                    <a:ext uri="{FF2B5EF4-FFF2-40B4-BE49-F238E27FC236}">
                      <a16:creationId xmlns:a16="http://schemas.microsoft.com/office/drawing/2014/main" id="{3EDBC5E1-AEE7-2A4C-9CCE-D6FE884FE831}"/>
                    </a:ext>
                  </a:extLst>
                </p:cNvPr>
                <p:cNvSpPr/>
                <p:nvPr/>
              </p:nvSpPr>
              <p:spPr>
                <a:xfrm>
                  <a:off x="1306241" y="1551525"/>
                  <a:ext cx="2116182" cy="2116182"/>
                </a:xfrm>
                <a:prstGeom prst="ellipse">
                  <a:avLst/>
                </a:prstGeom>
                <a:grp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7DE73D3B-6172-AD4A-8114-5DA3984DA6B8}"/>
                    </a:ext>
                  </a:extLst>
                </p:cNvPr>
                <p:cNvSpPr/>
                <p:nvPr/>
              </p:nvSpPr>
              <p:spPr>
                <a:xfrm>
                  <a:off x="2213298" y="250573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962E44D-FBA1-D543-B29E-3BD27B00E509}"/>
                    </a:ext>
                  </a:extLst>
                </p:cNvPr>
                <p:cNvSpPr/>
                <p:nvPr/>
              </p:nvSpPr>
              <p:spPr>
                <a:xfrm>
                  <a:off x="2505921" y="27570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6257EEC-3C03-0546-9ACD-4DCDB1819397}"/>
                    </a:ext>
                  </a:extLst>
                </p:cNvPr>
                <p:cNvSpPr/>
                <p:nvPr/>
              </p:nvSpPr>
              <p:spPr>
                <a:xfrm>
                  <a:off x="2260449" y="1912727"/>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C8325B40-CC4B-6445-8AA8-D6AA369D34A4}"/>
                    </a:ext>
                  </a:extLst>
                </p:cNvPr>
                <p:cNvSpPr/>
                <p:nvPr/>
              </p:nvSpPr>
              <p:spPr>
                <a:xfrm>
                  <a:off x="1796755" y="2744815"/>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0369C21-DFFB-4B46-A1A5-A3B9B2BD5D3D}"/>
                    </a:ext>
                  </a:extLst>
                </p:cNvPr>
                <p:cNvSpPr/>
                <p:nvPr/>
              </p:nvSpPr>
              <p:spPr>
                <a:xfrm>
                  <a:off x="2542075" y="312761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4155E267-602E-DA43-8ADA-80A77E2F6BAA}"/>
                    </a:ext>
                  </a:extLst>
                </p:cNvPr>
                <p:cNvSpPr/>
                <p:nvPr/>
              </p:nvSpPr>
              <p:spPr>
                <a:xfrm>
                  <a:off x="3074398" y="2602676"/>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1EFCDA0-8E24-3F4E-9729-B109832A37F5}"/>
                    </a:ext>
                  </a:extLst>
                </p:cNvPr>
                <p:cNvSpPr/>
                <p:nvPr/>
              </p:nvSpPr>
              <p:spPr>
                <a:xfrm>
                  <a:off x="2846933" y="2941322"/>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01B9D4C-4986-CE4F-AAC2-0B2B3DE03C87}"/>
                    </a:ext>
                  </a:extLst>
                </p:cNvPr>
                <p:cNvSpPr/>
                <p:nvPr/>
              </p:nvSpPr>
              <p:spPr>
                <a:xfrm>
                  <a:off x="2480245" y="2335703"/>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63D505A4-48AE-AC40-87FA-FC0E50F6B75A}"/>
                    </a:ext>
                  </a:extLst>
                </p:cNvPr>
                <p:cNvSpPr/>
                <p:nvPr/>
              </p:nvSpPr>
              <p:spPr>
                <a:xfrm>
                  <a:off x="1360431" y="2433164"/>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Oval 23">
                  <a:extLst>
                    <a:ext uri="{FF2B5EF4-FFF2-40B4-BE49-F238E27FC236}">
                      <a16:creationId xmlns:a16="http://schemas.microsoft.com/office/drawing/2014/main" id="{3F6A3959-23EF-B243-97DE-A3CBF9EE4626}"/>
                    </a:ext>
                  </a:extLst>
                </p:cNvPr>
                <p:cNvSpPr/>
                <p:nvPr/>
              </p:nvSpPr>
              <p:spPr>
                <a:xfrm>
                  <a:off x="2004522" y="3103028"/>
                  <a:ext cx="207767" cy="207767"/>
                </a:xfrm>
                <a:prstGeom prst="ellipse">
                  <a:avLst/>
                </a:prstGeom>
                <a:grpFill/>
                <a:ln w="222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8" name="TextBox 7">
              <a:extLst>
                <a:ext uri="{FF2B5EF4-FFF2-40B4-BE49-F238E27FC236}">
                  <a16:creationId xmlns:a16="http://schemas.microsoft.com/office/drawing/2014/main" id="{D36FFD52-F70F-854D-8DC1-D1F09F5ACAD2}"/>
                </a:ext>
              </a:extLst>
            </p:cNvPr>
            <p:cNvSpPr txBox="1"/>
            <p:nvPr/>
          </p:nvSpPr>
          <p:spPr>
            <a:xfrm>
              <a:off x="6518030" y="3471011"/>
              <a:ext cx="1072730" cy="369332"/>
            </a:xfrm>
            <a:prstGeom prst="rect">
              <a:avLst/>
            </a:prstGeom>
            <a:noFill/>
          </p:spPr>
          <p:txBody>
            <a:bodyPr wrap="none" rtlCol="0">
              <a:spAutoFit/>
            </a:bodyPr>
            <a:lstStyle/>
            <a:p>
              <a:r>
                <a:rPr lang="en-US" dirty="0"/>
                <a:t>Cluster1</a:t>
              </a:r>
            </a:p>
          </p:txBody>
        </p:sp>
        <p:sp>
          <p:nvSpPr>
            <p:cNvPr id="9" name="TextBox 8">
              <a:extLst>
                <a:ext uri="{FF2B5EF4-FFF2-40B4-BE49-F238E27FC236}">
                  <a16:creationId xmlns:a16="http://schemas.microsoft.com/office/drawing/2014/main" id="{81858FD9-B27C-0C44-8B7A-44D908A27760}"/>
                </a:ext>
              </a:extLst>
            </p:cNvPr>
            <p:cNvSpPr txBox="1"/>
            <p:nvPr/>
          </p:nvSpPr>
          <p:spPr>
            <a:xfrm>
              <a:off x="7222749" y="1903899"/>
              <a:ext cx="1072730" cy="369332"/>
            </a:xfrm>
            <a:prstGeom prst="rect">
              <a:avLst/>
            </a:prstGeom>
            <a:noFill/>
          </p:spPr>
          <p:txBody>
            <a:bodyPr wrap="none" rtlCol="0">
              <a:spAutoFit/>
            </a:bodyPr>
            <a:lstStyle/>
            <a:p>
              <a:r>
                <a:rPr lang="en-US" dirty="0"/>
                <a:t>Cluster2</a:t>
              </a:r>
            </a:p>
          </p:txBody>
        </p:sp>
      </p:grpSp>
    </p:spTree>
    <p:extLst>
      <p:ext uri="{BB962C8B-B14F-4D97-AF65-F5344CB8AC3E}">
        <p14:creationId xmlns:p14="http://schemas.microsoft.com/office/powerpoint/2010/main" val="1348533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content-based recommender system using user profile and course genres</a:t>
            </a:r>
          </a:p>
        </p:txBody>
      </p:sp>
      <p:sp>
        <p:nvSpPr>
          <p:cNvPr id="7" name="Content Placeholder 4">
            <a:extLst>
              <a:ext uri="{FF2B5EF4-FFF2-40B4-BE49-F238E27FC236}">
                <a16:creationId xmlns:a16="http://schemas.microsoft.com/office/drawing/2014/main" id="{DC036931-E29B-ACB1-423D-A4BCA2B40540}"/>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Starting by getting the user data then creating vectors for each profile after that selecting the unseen candidates, then we calculate the similarity scores, applying the </a:t>
            </a:r>
            <a:r>
              <a:rPr lang="en-US" sz="2000">
                <a:solidFill>
                  <a:schemeClr val="accent4">
                    <a:lumMod val="49000"/>
                  </a:schemeClr>
                </a:solidFill>
                <a:latin typeface="Abadi"/>
              </a:rPr>
              <a:t>recommendation threshold, finally getting the recommended scores.</a:t>
            </a:r>
            <a:endParaRPr lang="en-US" sz="2000" dirty="0">
              <a:solidFill>
                <a:schemeClr val="accent4">
                  <a:lumMod val="49000"/>
                </a:schemeClr>
              </a:solidFill>
              <a:latin typeface="Abadi"/>
            </a:endParaRPr>
          </a:p>
        </p:txBody>
      </p:sp>
      <p:pic>
        <p:nvPicPr>
          <p:cNvPr id="17" name="Picture 16">
            <a:extLst>
              <a:ext uri="{FF2B5EF4-FFF2-40B4-BE49-F238E27FC236}">
                <a16:creationId xmlns:a16="http://schemas.microsoft.com/office/drawing/2014/main" id="{4CA6DF4E-1C9B-FAC0-6CBE-FFFFBF3E5EE6}"/>
              </a:ext>
            </a:extLst>
          </p:cNvPr>
          <p:cNvPicPr>
            <a:picLocks noChangeAspect="1"/>
          </p:cNvPicPr>
          <p:nvPr/>
        </p:nvPicPr>
        <p:blipFill>
          <a:blip r:embed="rId2"/>
          <a:stretch>
            <a:fillRect/>
          </a:stretch>
        </p:blipFill>
        <p:spPr>
          <a:xfrm>
            <a:off x="1064712" y="3723468"/>
            <a:ext cx="10062576" cy="1446542"/>
          </a:xfrm>
          <a:prstGeom prst="rect">
            <a:avLst/>
          </a:prstGeom>
        </p:spPr>
      </p:pic>
    </p:spTree>
    <p:extLst>
      <p:ext uri="{BB962C8B-B14F-4D97-AF65-F5344CB8AC3E}">
        <p14:creationId xmlns:p14="http://schemas.microsoft.com/office/powerpoint/2010/main" val="21576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user profile-based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7" name="Content Placeholder 4">
            <a:extLst>
              <a:ext uri="{FF2B5EF4-FFF2-40B4-BE49-F238E27FC236}">
                <a16:creationId xmlns:a16="http://schemas.microsoft.com/office/drawing/2014/main" id="{56F37DFD-7ED9-224E-935C-3ADCC0C2BB0A}"/>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60 </a:t>
            </a:r>
            <a:r>
              <a:rPr lang="en-US" sz="2000" dirty="0">
                <a:solidFill>
                  <a:schemeClr val="accent4">
                    <a:lumMod val="49000"/>
                  </a:schemeClr>
                </a:solidFill>
                <a:latin typeface="Abadi"/>
              </a:rPr>
              <a:t>courses have been </a:t>
            </a:r>
            <a:r>
              <a:rPr lang="en-US" sz="2000">
                <a:solidFill>
                  <a:schemeClr val="accent4">
                    <a:lumMod val="49000"/>
                  </a:schemeClr>
                </a:solidFill>
                <a:latin typeface="Abadi"/>
              </a:rPr>
              <a:t>recommended per user.</a:t>
            </a:r>
            <a:endParaRPr lang="en-US" sz="2000" dirty="0">
              <a:solidFill>
                <a:schemeClr val="accent4">
                  <a:lumMod val="49000"/>
                </a:schemeClr>
              </a:solidFill>
              <a:latin typeface="Abadi"/>
            </a:endParaRPr>
          </a:p>
        </p:txBody>
      </p:sp>
      <p:sp>
        <p:nvSpPr>
          <p:cNvPr id="10" name="Content Placeholder 4">
            <a:extLst>
              <a:ext uri="{FF2B5EF4-FFF2-40B4-BE49-F238E27FC236}">
                <a16:creationId xmlns:a16="http://schemas.microsoft.com/office/drawing/2014/main" id="{A9473915-7B23-534C-B831-D860C539F3D3}"/>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a:solidFill>
                  <a:schemeClr val="accent4">
                    <a:lumMod val="49000"/>
                  </a:schemeClr>
                </a:solidFill>
                <a:latin typeface="Abadi"/>
              </a:rPr>
              <a:t>Recommendation</a:t>
            </a:r>
            <a:r>
              <a:rPr lang="en-US" sz="2000" dirty="0">
                <a:solidFill>
                  <a:schemeClr val="accent4">
                    <a:lumMod val="49000"/>
                  </a:schemeClr>
                </a:solidFill>
                <a:latin typeface="Abadi"/>
              </a:rPr>
              <a:t> Score Threshold: 10.0</a:t>
            </a:r>
          </a:p>
        </p:txBody>
      </p:sp>
      <p:pic>
        <p:nvPicPr>
          <p:cNvPr id="2" name="Picture 1" descr="A screenshot of a computer&#10;&#10;AI-generated content may be incorrect.">
            <a:extLst>
              <a:ext uri="{FF2B5EF4-FFF2-40B4-BE49-F238E27FC236}">
                <a16:creationId xmlns:a16="http://schemas.microsoft.com/office/drawing/2014/main" id="{A5265AAB-6A2E-094A-7AA7-5019E2AC5227}"/>
              </a:ext>
            </a:extLst>
          </p:cNvPr>
          <p:cNvPicPr>
            <a:picLocks noChangeAspect="1"/>
          </p:cNvPicPr>
          <p:nvPr/>
        </p:nvPicPr>
        <p:blipFill>
          <a:blip r:embed="rId2"/>
          <a:stretch>
            <a:fillRect/>
          </a:stretch>
        </p:blipFill>
        <p:spPr>
          <a:xfrm>
            <a:off x="7410450" y="3486150"/>
            <a:ext cx="3162300" cy="3009900"/>
          </a:xfrm>
          <a:prstGeom prst="rect">
            <a:avLst/>
          </a:prstGeom>
        </p:spPr>
      </p:pic>
    </p:spTree>
    <p:extLst>
      <p:ext uri="{BB962C8B-B14F-4D97-AF65-F5344CB8AC3E}">
        <p14:creationId xmlns:p14="http://schemas.microsoft.com/office/powerpoint/2010/main" val="302482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content-based recommender system using course similarity</a:t>
            </a:r>
          </a:p>
        </p:txBody>
      </p:sp>
      <p:sp>
        <p:nvSpPr>
          <p:cNvPr id="7" name="Content Placeholder 4">
            <a:extLst>
              <a:ext uri="{FF2B5EF4-FFF2-40B4-BE49-F238E27FC236}">
                <a16:creationId xmlns:a16="http://schemas.microsoft.com/office/drawing/2014/main" id="{1292DC16-4D58-59E1-F17B-E4836473EC03}"/>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latin typeface="Abadi"/>
              </a:rPr>
              <a:t>Starting by getting the course similarity Matrix then visualizing heatmap,  select threshold, after that for </a:t>
            </a:r>
            <a:r>
              <a:rPr lang="en-US" sz="2000">
                <a:solidFill>
                  <a:schemeClr val="accent4">
                    <a:lumMod val="49000"/>
                  </a:schemeClr>
                </a:solidFill>
                <a:latin typeface="Abadi"/>
              </a:rPr>
              <a:t>each user selecting the unseen candidates, then we calculate the similarity </a:t>
            </a:r>
            <a:r>
              <a:rPr lang="en-US" sz="2000" dirty="0">
                <a:solidFill>
                  <a:schemeClr val="accent4">
                    <a:lumMod val="49000"/>
                  </a:schemeClr>
                </a:solidFill>
                <a:latin typeface="Abadi"/>
              </a:rPr>
              <a:t>scores, applying the recommendation threshold, finally getting the recommended scores.</a:t>
            </a:r>
          </a:p>
        </p:txBody>
      </p:sp>
      <p:pic>
        <p:nvPicPr>
          <p:cNvPr id="8" name="Picture 7" descr="A black screen with white text&#10;&#10;AI-generated content may be incorrect.">
            <a:extLst>
              <a:ext uri="{FF2B5EF4-FFF2-40B4-BE49-F238E27FC236}">
                <a16:creationId xmlns:a16="http://schemas.microsoft.com/office/drawing/2014/main" id="{C2082A55-0DB4-549A-409F-D76FEC579AE7}"/>
              </a:ext>
            </a:extLst>
          </p:cNvPr>
          <p:cNvPicPr>
            <a:picLocks noChangeAspect="1"/>
          </p:cNvPicPr>
          <p:nvPr/>
        </p:nvPicPr>
        <p:blipFill>
          <a:blip r:embed="rId2"/>
          <a:stretch>
            <a:fillRect/>
          </a:stretch>
        </p:blipFill>
        <p:spPr>
          <a:xfrm>
            <a:off x="923925" y="3965631"/>
            <a:ext cx="10334625" cy="1212739"/>
          </a:xfrm>
          <a:prstGeom prst="rect">
            <a:avLst/>
          </a:prstGeom>
        </p:spPr>
      </p:pic>
    </p:spTree>
    <p:extLst>
      <p:ext uri="{BB962C8B-B14F-4D97-AF65-F5344CB8AC3E}">
        <p14:creationId xmlns:p14="http://schemas.microsoft.com/office/powerpoint/2010/main" val="21531566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course similarity based recommender system</a:t>
            </a:r>
          </a:p>
        </p:txBody>
      </p:sp>
      <p:sp>
        <p:nvSpPr>
          <p:cNvPr id="13" name="Content Placeholder 4">
            <a:extLst>
              <a:ext uri="{FF2B5EF4-FFF2-40B4-BE49-F238E27FC236}">
                <a16:creationId xmlns:a16="http://schemas.microsoft.com/office/drawing/2014/main" id="{C1620855-921C-30D1-4958-09EAC8221A4D}"/>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15" name="Content Placeholder 4">
            <a:extLst>
              <a:ext uri="{FF2B5EF4-FFF2-40B4-BE49-F238E27FC236}">
                <a16:creationId xmlns:a16="http://schemas.microsoft.com/office/drawing/2014/main" id="{F0583C61-BBCB-E18C-2975-8D12E73908F0}"/>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9.7 courses have been recommended per user.</a:t>
            </a:r>
            <a:endParaRPr lang="en-US" sz="2000" dirty="0">
              <a:solidFill>
                <a:schemeClr val="accent4">
                  <a:lumMod val="49000"/>
                </a:schemeClr>
              </a:solidFill>
              <a:latin typeface="Abadi"/>
            </a:endParaRPr>
          </a:p>
        </p:txBody>
      </p:sp>
      <p:sp>
        <p:nvSpPr>
          <p:cNvPr id="17" name="Content Placeholder 4">
            <a:extLst>
              <a:ext uri="{FF2B5EF4-FFF2-40B4-BE49-F238E27FC236}">
                <a16:creationId xmlns:a16="http://schemas.microsoft.com/office/drawing/2014/main" id="{9159E55D-EE6B-E816-BB8A-896D7ED27280}"/>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a:solidFill>
                  <a:schemeClr val="accent4">
                    <a:lumMod val="49000"/>
                  </a:schemeClr>
                </a:solidFill>
                <a:latin typeface="Abadi"/>
              </a:rPr>
              <a:t>Recommendation Score Threshold: 0.6</a:t>
            </a:r>
            <a:endParaRPr lang="en-US" sz="2000" dirty="0">
              <a:solidFill>
                <a:schemeClr val="accent4">
                  <a:lumMod val="49000"/>
                </a:schemeClr>
              </a:solidFill>
              <a:latin typeface="Abadi"/>
            </a:endParaRPr>
          </a:p>
        </p:txBody>
      </p:sp>
      <p:pic>
        <p:nvPicPr>
          <p:cNvPr id="18" name="Picture 17" descr="A screenshot of a computer&#10;&#10;AI-generated content may be incorrect.">
            <a:extLst>
              <a:ext uri="{FF2B5EF4-FFF2-40B4-BE49-F238E27FC236}">
                <a16:creationId xmlns:a16="http://schemas.microsoft.com/office/drawing/2014/main" id="{61E5DCEB-839D-B236-89AF-5EC87BE3ED92}"/>
              </a:ext>
            </a:extLst>
          </p:cNvPr>
          <p:cNvPicPr>
            <a:picLocks noChangeAspect="1"/>
          </p:cNvPicPr>
          <p:nvPr/>
        </p:nvPicPr>
        <p:blipFill>
          <a:blip r:embed="rId2"/>
          <a:stretch>
            <a:fillRect/>
          </a:stretch>
        </p:blipFill>
        <p:spPr>
          <a:xfrm>
            <a:off x="7469101" y="3599145"/>
            <a:ext cx="3057525" cy="2895600"/>
          </a:xfrm>
          <a:prstGeom prst="rect">
            <a:avLst/>
          </a:prstGeom>
        </p:spPr>
      </p:pic>
    </p:spTree>
    <p:extLst>
      <p:ext uri="{BB962C8B-B14F-4D97-AF65-F5344CB8AC3E}">
        <p14:creationId xmlns:p14="http://schemas.microsoft.com/office/powerpoint/2010/main" val="3676389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Flowchart of clustering-based recommender system</a:t>
            </a:r>
          </a:p>
        </p:txBody>
      </p:sp>
      <p:sp>
        <p:nvSpPr>
          <p:cNvPr id="7" name="Content Placeholder 4">
            <a:extLst>
              <a:ext uri="{FF2B5EF4-FFF2-40B4-BE49-F238E27FC236}">
                <a16:creationId xmlns:a16="http://schemas.microsoft.com/office/drawing/2014/main" id="{BA0E1C5B-4583-3EA2-1768-A234537D88E9}"/>
              </a:ext>
            </a:extLst>
          </p:cNvPr>
          <p:cNvSpPr txBox="1">
            <a:spLocks/>
          </p:cNvSpPr>
          <p:nvPr/>
        </p:nvSpPr>
        <p:spPr>
          <a:xfrm>
            <a:off x="834787" y="1719221"/>
            <a:ext cx="10526038"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Calibri" panose="020B0604020202020204" pitchFamily="34" charset="0"/>
              <a:buChar char="-"/>
            </a:pPr>
            <a:r>
              <a:rPr lang="en-US" sz="2000" dirty="0">
                <a:solidFill>
                  <a:schemeClr val="accent4">
                    <a:lumMod val="49000"/>
                  </a:schemeClr>
                </a:solidFill>
                <a:ea typeface="+mn-lt"/>
                <a:cs typeface="+mn-lt"/>
              </a:rPr>
              <a:t>The flow starts by preprocessing user data through scaling and dimensionality reduction (PCA), followed by selecting the optimal number of clusters using the elbow method and training a K-Means model. Users are then grouped into clusters, where similar users are identified based on cluster membership. Finally, recommendations are generated by ranking unseen courses according to their popularity within each user’s cluster.</a:t>
            </a:r>
            <a:endParaRPr lang="en-US" dirty="0">
              <a:solidFill>
                <a:schemeClr val="accent4">
                  <a:lumMod val="49000"/>
                </a:schemeClr>
              </a:solidFill>
              <a:ea typeface="+mn-lt"/>
              <a:cs typeface="+mn-lt"/>
            </a:endParaRPr>
          </a:p>
        </p:txBody>
      </p:sp>
      <p:pic>
        <p:nvPicPr>
          <p:cNvPr id="8" name="Picture 7" descr="A black screen with white text&#10;&#10;AI-generated content may be incorrect.">
            <a:extLst>
              <a:ext uri="{FF2B5EF4-FFF2-40B4-BE49-F238E27FC236}">
                <a16:creationId xmlns:a16="http://schemas.microsoft.com/office/drawing/2014/main" id="{FAD1819F-905B-0015-E592-C46A9CFDC3ED}"/>
              </a:ext>
            </a:extLst>
          </p:cNvPr>
          <p:cNvPicPr>
            <a:picLocks noChangeAspect="1"/>
          </p:cNvPicPr>
          <p:nvPr/>
        </p:nvPicPr>
        <p:blipFill>
          <a:blip r:embed="rId2"/>
          <a:stretch>
            <a:fillRect/>
          </a:stretch>
        </p:blipFill>
        <p:spPr>
          <a:xfrm>
            <a:off x="990600" y="3726708"/>
            <a:ext cx="10210800" cy="1195283"/>
          </a:xfrm>
          <a:prstGeom prst="rect">
            <a:avLst/>
          </a:prstGeom>
        </p:spPr>
      </p:pic>
    </p:spTree>
    <p:extLst>
      <p:ext uri="{BB962C8B-B14F-4D97-AF65-F5344CB8AC3E}">
        <p14:creationId xmlns:p14="http://schemas.microsoft.com/office/powerpoint/2010/main" val="3552581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lIns="91440" tIns="45720" rIns="91440" bIns="45720" anchor="t"/>
          <a:lstStyle/>
          <a:p>
            <a:r>
              <a:rPr lang="en-US" sz="4000" dirty="0">
                <a:solidFill>
                  <a:schemeClr val="accent4">
                    <a:lumMod val="76000"/>
                  </a:schemeClr>
                </a:solidFill>
                <a:latin typeface="Abadi"/>
              </a:rPr>
              <a:t>Evaluation results of clustering-based recommender system</a:t>
            </a:r>
          </a:p>
        </p:txBody>
      </p:sp>
      <p:sp>
        <p:nvSpPr>
          <p:cNvPr id="3" name="Content Placeholder 4">
            <a:extLst>
              <a:ext uri="{FF2B5EF4-FFF2-40B4-BE49-F238E27FC236}">
                <a16:creationId xmlns:a16="http://schemas.microsoft.com/office/drawing/2014/main" id="{53CC9E07-D686-1FB7-2137-33B799B0EDB4}"/>
              </a:ext>
            </a:extLst>
          </p:cNvPr>
          <p:cNvSpPr txBox="1">
            <a:spLocks/>
          </p:cNvSpPr>
          <p:nvPr/>
        </p:nvSpPr>
        <p:spPr>
          <a:xfrm>
            <a:off x="6633594" y="2481129"/>
            <a:ext cx="4720206" cy="8494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2000">
                <a:solidFill>
                  <a:schemeClr val="accent4">
                    <a:lumMod val="49000"/>
                  </a:schemeClr>
                </a:solidFill>
                <a:latin typeface="Abadi"/>
              </a:rPr>
              <a:t>- the top-10 commonly recommended courses across all users</a:t>
            </a:r>
            <a:endParaRPr lang="en-US" sz="2000" dirty="0">
              <a:solidFill>
                <a:schemeClr val="accent4">
                  <a:lumMod val="49000"/>
                </a:schemeClr>
              </a:solidFill>
              <a:latin typeface="Abadi"/>
            </a:endParaRPr>
          </a:p>
        </p:txBody>
      </p:sp>
      <p:sp>
        <p:nvSpPr>
          <p:cNvPr id="8" name="Content Placeholder 4">
            <a:extLst>
              <a:ext uri="{FF2B5EF4-FFF2-40B4-BE49-F238E27FC236}">
                <a16:creationId xmlns:a16="http://schemas.microsoft.com/office/drawing/2014/main" id="{A498940F-99FE-F0F4-9986-D308C7DEDBF5}"/>
              </a:ext>
            </a:extLst>
          </p:cNvPr>
          <p:cNvSpPr txBox="1">
            <a:spLocks/>
          </p:cNvSpPr>
          <p:nvPr/>
        </p:nvSpPr>
        <p:spPr>
          <a:xfrm>
            <a:off x="933834" y="2481129"/>
            <a:ext cx="4720206" cy="4011746"/>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endParaRPr lang="en-US" sz="2000" dirty="0">
              <a:solidFill>
                <a:schemeClr val="accent4">
                  <a:lumMod val="49000"/>
                </a:schemeClr>
              </a:solidFill>
              <a:latin typeface="Abadi"/>
            </a:endParaRPr>
          </a:p>
          <a:p>
            <a:pPr>
              <a:lnSpc>
                <a:spcPct val="110000"/>
              </a:lnSpc>
              <a:buFont typeface="Calibri" panose="020B0604020202020204" pitchFamily="34" charset="0"/>
              <a:buChar char="-"/>
            </a:pPr>
            <a:r>
              <a:rPr lang="en-US" sz="2000">
                <a:solidFill>
                  <a:schemeClr val="accent4">
                    <a:lumMod val="49000"/>
                  </a:schemeClr>
                </a:solidFill>
                <a:latin typeface="Abadi"/>
              </a:rPr>
              <a:t>On average, </a:t>
            </a:r>
            <a:r>
              <a:rPr lang="en-US" sz="2000">
                <a:solidFill>
                  <a:schemeClr val="accent4">
                    <a:lumMod val="49000"/>
                  </a:schemeClr>
                </a:solidFill>
                <a:ea typeface="+mn-lt"/>
                <a:cs typeface="+mn-lt"/>
              </a:rPr>
              <a:t>each user receives approximately 4.89 new (unseen) course recommendations out of the top 5 recommendations.</a:t>
            </a:r>
          </a:p>
        </p:txBody>
      </p:sp>
      <p:sp>
        <p:nvSpPr>
          <p:cNvPr id="11" name="Content Placeholder 4">
            <a:extLst>
              <a:ext uri="{FF2B5EF4-FFF2-40B4-BE49-F238E27FC236}">
                <a16:creationId xmlns:a16="http://schemas.microsoft.com/office/drawing/2014/main" id="{260C4ABB-3F64-66D9-9A16-CDF24BE87130}"/>
              </a:ext>
            </a:extLst>
          </p:cNvPr>
          <p:cNvSpPr txBox="1">
            <a:spLocks/>
          </p:cNvSpPr>
          <p:nvPr/>
        </p:nvSpPr>
        <p:spPr>
          <a:xfrm>
            <a:off x="933834" y="1690688"/>
            <a:ext cx="10419966" cy="619375"/>
          </a:xfrm>
          <a:prstGeom prst="rect">
            <a:avLst/>
          </a:prstGeom>
          <a:ln>
            <a:solidFill>
              <a:schemeClr val="accent4">
                <a:lumMod val="75000"/>
              </a:schemeClr>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Calibri" panose="020B0604020202020204" pitchFamily="34" charset="0"/>
              <a:buChar char="-"/>
            </a:pPr>
            <a:r>
              <a:rPr lang="en-US" sz="2000" dirty="0">
                <a:solidFill>
                  <a:schemeClr val="accent4">
                    <a:lumMod val="49000"/>
                  </a:schemeClr>
                </a:solidFill>
                <a:latin typeface="Abadi"/>
              </a:rPr>
              <a:t>PCA variation: 0.95, </a:t>
            </a:r>
            <a:r>
              <a:rPr lang="en-US" sz="2000" dirty="0" err="1">
                <a:solidFill>
                  <a:schemeClr val="accent4">
                    <a:lumMod val="49000"/>
                  </a:schemeClr>
                </a:solidFill>
                <a:latin typeface="Abadi"/>
              </a:rPr>
              <a:t>KMeans</a:t>
            </a:r>
            <a:r>
              <a:rPr lang="en-US" sz="2000" dirty="0">
                <a:solidFill>
                  <a:schemeClr val="accent4">
                    <a:lumMod val="49000"/>
                  </a:schemeClr>
                </a:solidFill>
                <a:latin typeface="Abadi"/>
              </a:rPr>
              <a:t> </a:t>
            </a:r>
            <a:r>
              <a:rPr lang="en-US" sz="2000" dirty="0" err="1">
                <a:solidFill>
                  <a:schemeClr val="accent4">
                    <a:lumMod val="49000"/>
                  </a:schemeClr>
                </a:solidFill>
                <a:latin typeface="Abadi"/>
              </a:rPr>
              <a:t>n_init</a:t>
            </a:r>
            <a:r>
              <a:rPr lang="en-US" sz="2000" dirty="0">
                <a:solidFill>
                  <a:schemeClr val="accent4">
                    <a:lumMod val="49000"/>
                  </a:schemeClr>
                </a:solidFill>
                <a:latin typeface="Abadi"/>
              </a:rPr>
              <a:t>: 10, </a:t>
            </a:r>
            <a:r>
              <a:rPr lang="en-US" sz="2000" dirty="0" err="1">
                <a:solidFill>
                  <a:schemeClr val="accent4">
                    <a:lumMod val="49000"/>
                  </a:schemeClr>
                </a:solidFill>
                <a:latin typeface="Abadi"/>
              </a:rPr>
              <a:t>n_clusters</a:t>
            </a:r>
            <a:r>
              <a:rPr lang="en-US" sz="2000" dirty="0">
                <a:solidFill>
                  <a:schemeClr val="accent4">
                    <a:lumMod val="49000"/>
                  </a:schemeClr>
                </a:solidFill>
                <a:latin typeface="Abadi"/>
              </a:rPr>
              <a:t>: 9</a:t>
            </a:r>
          </a:p>
        </p:txBody>
      </p:sp>
      <p:pic>
        <p:nvPicPr>
          <p:cNvPr id="14" name="Picture 13" descr="A screenshot of a computer&#10;&#10;AI-generated content may be incorrect.">
            <a:extLst>
              <a:ext uri="{FF2B5EF4-FFF2-40B4-BE49-F238E27FC236}">
                <a16:creationId xmlns:a16="http://schemas.microsoft.com/office/drawing/2014/main" id="{161B7F85-29AD-D6FE-2982-75F5AE93F0E5}"/>
              </a:ext>
            </a:extLst>
          </p:cNvPr>
          <p:cNvPicPr>
            <a:picLocks noChangeAspect="1"/>
          </p:cNvPicPr>
          <p:nvPr/>
        </p:nvPicPr>
        <p:blipFill>
          <a:blip r:embed="rId2"/>
          <a:stretch>
            <a:fillRect/>
          </a:stretch>
        </p:blipFill>
        <p:spPr>
          <a:xfrm>
            <a:off x="7734300" y="3433763"/>
            <a:ext cx="2524125" cy="3067050"/>
          </a:xfrm>
          <a:prstGeom prst="rect">
            <a:avLst/>
          </a:prstGeom>
        </p:spPr>
      </p:pic>
    </p:spTree>
    <p:extLst>
      <p:ext uri="{BB962C8B-B14F-4D97-AF65-F5344CB8AC3E}">
        <p14:creationId xmlns:p14="http://schemas.microsoft.com/office/powerpoint/2010/main" val="211599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9FF7BC5-E183-2F4D-BC8D-2C69A220292B}"/>
              </a:ext>
            </a:extLst>
          </p:cNvPr>
          <p:cNvSpPr>
            <a:spLocks noGrp="1"/>
          </p:cNvSpPr>
          <p:nvPr>
            <p:ph type="title"/>
          </p:nvPr>
        </p:nvSpPr>
        <p:spPr/>
        <p:txBody>
          <a:bodyPr/>
          <a:lstStyle/>
          <a:p>
            <a:r>
              <a:rPr lang="en-US" dirty="0">
                <a:solidFill>
                  <a:schemeClr val="accent3">
                    <a:lumMod val="25000"/>
                  </a:schemeClr>
                </a:solidFill>
                <a:latin typeface="Abadi"/>
              </a:rPr>
              <a:t>Collaborative-filtering Recommender System using Supervised Learning</a:t>
            </a:r>
            <a:endParaRPr lang="en-US" dirty="0"/>
          </a:p>
        </p:txBody>
      </p:sp>
      <p:pic>
        <p:nvPicPr>
          <p:cNvPr id="43" name="Picture 2" descr="Support-vector machine - Wikipedia">
            <a:extLst>
              <a:ext uri="{FF2B5EF4-FFF2-40B4-BE49-F238E27FC236}">
                <a16:creationId xmlns:a16="http://schemas.microsoft.com/office/drawing/2014/main" id="{CA660427-DE61-394E-804E-5C01071630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2071" y="5432400"/>
            <a:ext cx="1470757" cy="142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5724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KNN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a:buFontTx/>
              <a:buChar char="-"/>
            </a:pPr>
            <a:r>
              <a:rPr lang="en-US" sz="2000" dirty="0">
                <a:solidFill>
                  <a:srgbClr val="1C7DDB"/>
                </a:solidFill>
                <a:latin typeface="Abadi"/>
              </a:rPr>
              <a:t>Plot a flowchart which should clearly illustrate how you performed KNN based recommender system using course enrollments history</a:t>
            </a:r>
          </a:p>
          <a:p>
            <a:pPr marL="0" indent="0">
              <a:buNone/>
            </a:pPr>
            <a:r>
              <a:rPr lang="en-US" sz="2000" dirty="0">
                <a:solidFill>
                  <a:srgbClr val="1C7DDB"/>
                </a:solidFill>
                <a:latin typeface="Abadi"/>
              </a:rPr>
              <a:t>- Briefly explain the flowchart in the slide note</a:t>
            </a:r>
          </a:p>
          <a:p>
            <a:pPr marL="0" indent="0">
              <a:buNone/>
            </a:pPr>
            <a:endParaRPr lang="en-US" sz="2000" dirty="0">
              <a:solidFill>
                <a:srgbClr val="1C7DDB"/>
              </a:solidFill>
              <a:latin typeface="Abadi"/>
            </a:endParaRPr>
          </a:p>
          <a:p>
            <a:pPr marL="0" indent="0">
              <a:buNone/>
            </a:pPr>
            <a:r>
              <a:rPr lang="en-US" sz="2000" dirty="0">
                <a:solidFill>
                  <a:srgbClr val="1C7DDB"/>
                </a:solidFill>
                <a:latin typeface="Abadi"/>
                <a:cs typeface="Calibri"/>
              </a:rPr>
              <a:t>An example flowchart may look like the following:</a:t>
            </a:r>
            <a:endParaRPr lang="en-US" sz="2400" dirty="0">
              <a:cs typeface="Calibr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datasets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data</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processing</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engineering</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2618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NMF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US" sz="2000" dirty="0">
                <a:solidFill>
                  <a:srgbClr val="1C7DDB"/>
                </a:solidFill>
                <a:latin typeface="Abadi"/>
              </a:rPr>
              <a:t>- Plot a flowchart which should clearly illustrate how you performed NMF based recommender system</a:t>
            </a:r>
          </a:p>
          <a:p>
            <a:pPr marL="0" indent="0">
              <a:buNone/>
            </a:pPr>
            <a:r>
              <a:rPr lang="en-US" sz="2000" dirty="0">
                <a:solidFill>
                  <a:srgbClr val="1C7DDB"/>
                </a:solidFill>
                <a:latin typeface="Abadi"/>
              </a:rPr>
              <a:t>- Briefly explain the flowchart in the slide note</a:t>
            </a:r>
          </a:p>
          <a:p>
            <a:pPr marL="0" indent="0">
              <a:buNone/>
            </a:pPr>
            <a:endParaRPr lang="en-US" sz="2000" dirty="0">
              <a:solidFill>
                <a:srgbClr val="1C7DDB"/>
              </a:solidFill>
              <a:latin typeface="Abadi"/>
            </a:endParaRPr>
          </a:p>
          <a:p>
            <a:pPr marL="0" indent="0">
              <a:buNone/>
            </a:pPr>
            <a:r>
              <a:rPr lang="en-US" sz="2000" dirty="0">
                <a:solidFill>
                  <a:srgbClr val="1C7DDB"/>
                </a:solidFill>
                <a:latin typeface="Abadi"/>
                <a:cs typeface="Calibri"/>
              </a:rPr>
              <a:t>An example flowchart may look like the following:</a:t>
            </a:r>
            <a:endParaRPr lang="en-US" sz="2400" dirty="0">
              <a:cs typeface="Calibr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datasets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data</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processing</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engineering</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5939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Flowchart of Neural Network Embedding based recommender system</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200" dirty="0">
              <a:solidFill>
                <a:srgbClr val="1C7DDB"/>
              </a:solidFill>
              <a:latin typeface="Abadi"/>
            </a:endParaRPr>
          </a:p>
          <a:p>
            <a:pPr marL="0" indent="0">
              <a:buNone/>
            </a:pPr>
            <a:r>
              <a:rPr lang="en-US" sz="2000" dirty="0">
                <a:solidFill>
                  <a:srgbClr val="1C7DDB"/>
                </a:solidFill>
                <a:latin typeface="Abadi"/>
              </a:rPr>
              <a:t>- Plot a flowchart which should clearly illustrate how you performed Neural Network Embedding based recommender system</a:t>
            </a:r>
          </a:p>
          <a:p>
            <a:pPr marL="0" indent="0">
              <a:buNone/>
            </a:pPr>
            <a:r>
              <a:rPr lang="en-US" sz="2000" dirty="0">
                <a:solidFill>
                  <a:srgbClr val="1C7DDB"/>
                </a:solidFill>
                <a:latin typeface="Abadi"/>
              </a:rPr>
              <a:t>- Briefly explain the flowchart in the slide note</a:t>
            </a:r>
          </a:p>
          <a:p>
            <a:pPr marL="0" indent="0">
              <a:buNone/>
            </a:pPr>
            <a:endParaRPr lang="en-US" sz="2000" dirty="0">
              <a:solidFill>
                <a:srgbClr val="1C7DDB"/>
              </a:solidFill>
              <a:latin typeface="Abadi"/>
            </a:endParaRPr>
          </a:p>
          <a:p>
            <a:pPr marL="0" indent="0">
              <a:buNone/>
            </a:pPr>
            <a:r>
              <a:rPr lang="en-US" sz="2000" dirty="0">
                <a:solidFill>
                  <a:srgbClr val="1C7DDB"/>
                </a:solidFill>
                <a:latin typeface="Abadi"/>
                <a:cs typeface="Calibri"/>
              </a:rPr>
              <a:t>An example flowchart may look like the following:</a:t>
            </a:r>
            <a:endParaRPr lang="en-US" sz="2400" dirty="0">
              <a:cs typeface="Calibri"/>
            </a:endParaRPr>
          </a:p>
        </p:txBody>
      </p:sp>
      <p:cxnSp>
        <p:nvCxnSpPr>
          <p:cNvPr id="5" name="Straight Arrow Connector 4">
            <a:extLst>
              <a:ext uri="{FF2B5EF4-FFF2-40B4-BE49-F238E27FC236}">
                <a16:creationId xmlns:a16="http://schemas.microsoft.com/office/drawing/2014/main" id="{3BD5024D-F637-E049-86BB-470819C786C7}"/>
              </a:ext>
            </a:extLst>
          </p:cNvPr>
          <p:cNvCxnSpPr>
            <a:cxnSpLocks/>
          </p:cNvCxnSpPr>
          <p:nvPr/>
        </p:nvCxnSpPr>
        <p:spPr>
          <a:xfrm>
            <a:off x="2593892"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ounded Rectangle 2">
            <a:extLst>
              <a:ext uri="{FF2B5EF4-FFF2-40B4-BE49-F238E27FC236}">
                <a16:creationId xmlns:a16="http://schemas.microsoft.com/office/drawing/2014/main" id="{ACE873DD-5A17-E74A-A176-37DC05AB7D67}"/>
              </a:ext>
            </a:extLst>
          </p:cNvPr>
          <p:cNvSpPr/>
          <p:nvPr/>
        </p:nvSpPr>
        <p:spPr>
          <a:xfrm>
            <a:off x="5273040"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Cleaned datasets</a:t>
            </a:r>
          </a:p>
        </p:txBody>
      </p:sp>
      <p:sp>
        <p:nvSpPr>
          <p:cNvPr id="9" name="Rounded Rectangle 8">
            <a:extLst>
              <a:ext uri="{FF2B5EF4-FFF2-40B4-BE49-F238E27FC236}">
                <a16:creationId xmlns:a16="http://schemas.microsoft.com/office/drawing/2014/main" id="{B10ED2F6-D532-7142-97BA-904FB755E4F3}"/>
              </a:ext>
            </a:extLst>
          </p:cNvPr>
          <p:cNvSpPr/>
          <p:nvPr/>
        </p:nvSpPr>
        <p:spPr>
          <a:xfrm>
            <a:off x="947972"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Raw data</a:t>
            </a:r>
          </a:p>
        </p:txBody>
      </p:sp>
      <p:sp>
        <p:nvSpPr>
          <p:cNvPr id="10" name="Rectangle 9">
            <a:extLst>
              <a:ext uri="{FF2B5EF4-FFF2-40B4-BE49-F238E27FC236}">
                <a16:creationId xmlns:a16="http://schemas.microsoft.com/office/drawing/2014/main" id="{BC66C45B-081E-7045-A932-30AF89330AF5}"/>
              </a:ext>
            </a:extLst>
          </p:cNvPr>
          <p:cNvSpPr/>
          <p:nvPr/>
        </p:nvSpPr>
        <p:spPr>
          <a:xfrm>
            <a:off x="3013083"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Data processing</a:t>
            </a:r>
          </a:p>
        </p:txBody>
      </p:sp>
      <p:cxnSp>
        <p:nvCxnSpPr>
          <p:cNvPr id="12" name="Straight Arrow Connector 11">
            <a:extLst>
              <a:ext uri="{FF2B5EF4-FFF2-40B4-BE49-F238E27FC236}">
                <a16:creationId xmlns:a16="http://schemas.microsoft.com/office/drawing/2014/main" id="{C1A4056F-CC3B-0F4C-9145-808F40D57DA0}"/>
              </a:ext>
            </a:extLst>
          </p:cNvPr>
          <p:cNvCxnSpPr>
            <a:cxnSpLocks/>
          </p:cNvCxnSpPr>
          <p:nvPr/>
        </p:nvCxnSpPr>
        <p:spPr>
          <a:xfrm>
            <a:off x="4853849" y="4610494"/>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C5FB1C-FC31-DE41-BE2C-756D9E1C96BD}"/>
              </a:ext>
            </a:extLst>
          </p:cNvPr>
          <p:cNvSpPr/>
          <p:nvPr/>
        </p:nvSpPr>
        <p:spPr>
          <a:xfrm>
            <a:off x="7338151" y="4273610"/>
            <a:ext cx="1840766" cy="67376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 engineering</a:t>
            </a:r>
          </a:p>
        </p:txBody>
      </p:sp>
      <p:cxnSp>
        <p:nvCxnSpPr>
          <p:cNvPr id="14" name="Straight Arrow Connector 13">
            <a:extLst>
              <a:ext uri="{FF2B5EF4-FFF2-40B4-BE49-F238E27FC236}">
                <a16:creationId xmlns:a16="http://schemas.microsoft.com/office/drawing/2014/main" id="{B7065D5E-FB7B-B946-BDC3-DFBD3A4E0C15}"/>
              </a:ext>
            </a:extLst>
          </p:cNvPr>
          <p:cNvCxnSpPr>
            <a:cxnSpLocks/>
          </p:cNvCxnSpPr>
          <p:nvPr/>
        </p:nvCxnSpPr>
        <p:spPr>
          <a:xfrm>
            <a:off x="6918960"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6B7ACCDB-22AE-FF45-AD32-20FC32228338}"/>
              </a:ext>
            </a:extLst>
          </p:cNvPr>
          <p:cNvSpPr/>
          <p:nvPr/>
        </p:nvSpPr>
        <p:spPr>
          <a:xfrm>
            <a:off x="9598108" y="4336174"/>
            <a:ext cx="1645920" cy="54864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Features</a:t>
            </a:r>
          </a:p>
        </p:txBody>
      </p:sp>
      <p:cxnSp>
        <p:nvCxnSpPr>
          <p:cNvPr id="16" name="Straight Arrow Connector 15">
            <a:extLst>
              <a:ext uri="{FF2B5EF4-FFF2-40B4-BE49-F238E27FC236}">
                <a16:creationId xmlns:a16="http://schemas.microsoft.com/office/drawing/2014/main" id="{4FBB56A3-DC21-3A42-ABDF-B42DEB3A6E53}"/>
              </a:ext>
            </a:extLst>
          </p:cNvPr>
          <p:cNvCxnSpPr>
            <a:cxnSpLocks/>
          </p:cNvCxnSpPr>
          <p:nvPr/>
        </p:nvCxnSpPr>
        <p:spPr>
          <a:xfrm>
            <a:off x="9178917" y="4608882"/>
            <a:ext cx="419191"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004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hart, bar chart&#10;&#10;Description automatically generated">
            <a:extLst>
              <a:ext uri="{FF2B5EF4-FFF2-40B4-BE49-F238E27FC236}">
                <a16:creationId xmlns:a16="http://schemas.microsoft.com/office/drawing/2014/main" id="{06D6B3C2-C486-E743-B5AC-7F9E7AA2870B}"/>
              </a:ext>
            </a:extLst>
          </p:cNvPr>
          <p:cNvPicPr>
            <a:picLocks noChangeAspect="1"/>
          </p:cNvPicPr>
          <p:nvPr/>
        </p:nvPicPr>
        <p:blipFill>
          <a:blip r:embed="rId2"/>
          <a:stretch>
            <a:fillRect/>
          </a:stretch>
        </p:blipFill>
        <p:spPr>
          <a:xfrm>
            <a:off x="2079055" y="2936765"/>
            <a:ext cx="7913415" cy="3829795"/>
          </a:xfrm>
          <a:prstGeom prst="rect">
            <a:avLst/>
          </a:prstGeom>
        </p:spPr>
      </p:pic>
      <p:sp>
        <p:nvSpPr>
          <p:cNvPr id="4" name="Title 3">
            <a:extLst>
              <a:ext uri="{FF2B5EF4-FFF2-40B4-BE49-F238E27FC236}">
                <a16:creationId xmlns:a16="http://schemas.microsoft.com/office/drawing/2014/main" id="{E26EB370-3F0F-1B41-BFE3-77AFB99A4166}"/>
              </a:ext>
            </a:extLst>
          </p:cNvPr>
          <p:cNvSpPr>
            <a:spLocks noGrp="1"/>
          </p:cNvSpPr>
          <p:nvPr>
            <p:ph type="title"/>
          </p:nvPr>
        </p:nvSpPr>
        <p:spPr/>
        <p:txBody>
          <a:bodyPr/>
          <a:lstStyle/>
          <a:p>
            <a:r>
              <a:rPr lang="en-US" sz="4000" dirty="0">
                <a:solidFill>
                  <a:srgbClr val="0B49CB"/>
                </a:solidFill>
                <a:latin typeface="Abadi"/>
              </a:rPr>
              <a:t>Compare the performance of collaborative-filtering models</a:t>
            </a:r>
          </a:p>
        </p:txBody>
      </p:sp>
      <p:sp>
        <p:nvSpPr>
          <p:cNvPr id="6" name="Content Placeholder 4">
            <a:extLst>
              <a:ext uri="{FF2B5EF4-FFF2-40B4-BE49-F238E27FC236}">
                <a16:creationId xmlns:a16="http://schemas.microsoft.com/office/drawing/2014/main" id="{A4D1CBA0-D4EF-0E4C-91FB-ACF90D54854A}"/>
              </a:ext>
            </a:extLst>
          </p:cNvPr>
          <p:cNvSpPr txBox="1">
            <a:spLocks/>
          </p:cNvSpPr>
          <p:nvPr/>
        </p:nvSpPr>
        <p:spPr>
          <a:xfrm>
            <a:off x="855663" y="1792289"/>
            <a:ext cx="10515600" cy="470058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2000" dirty="0">
                <a:solidFill>
                  <a:srgbClr val="1C7DDB"/>
                </a:solidFill>
                <a:latin typeface="Abadi"/>
              </a:rPr>
              <a:t>Plot a barchart visualizing the performance metric (such as RMSE) of different collaborative-filtering models you have built so far</a:t>
            </a:r>
          </a:p>
          <a:p>
            <a:pPr>
              <a:buFontTx/>
              <a:buChar char="-"/>
            </a:pPr>
            <a:r>
              <a:rPr lang="en-US" sz="2000" dirty="0">
                <a:solidFill>
                  <a:srgbClr val="1C7DDB"/>
                </a:solidFill>
                <a:latin typeface="Abadi"/>
              </a:rPr>
              <a:t>Briefly explain the barchart in the slide note</a:t>
            </a:r>
          </a:p>
          <a:p>
            <a:pPr marL="0" indent="0">
              <a:buNone/>
            </a:pPr>
            <a:r>
              <a:rPr lang="en-US" sz="2000" dirty="0">
                <a:solidFill>
                  <a:srgbClr val="1C7DDB"/>
                </a:solidFill>
                <a:latin typeface="Abadi"/>
              </a:rPr>
              <a:t>A sample barchart may look like the following</a:t>
            </a:r>
          </a:p>
          <a:p>
            <a:pPr marL="0" indent="0">
              <a:buNone/>
            </a:pPr>
            <a:endParaRPr lang="en-US" sz="2200" dirty="0">
              <a:solidFill>
                <a:srgbClr val="1C7DDB"/>
              </a:solidFill>
              <a:latin typeface="Abadi"/>
            </a:endParaRPr>
          </a:p>
        </p:txBody>
      </p:sp>
    </p:spTree>
    <p:extLst>
      <p:ext uri="{BB962C8B-B14F-4D97-AF65-F5344CB8AC3E}">
        <p14:creationId xmlns:p14="http://schemas.microsoft.com/office/powerpoint/2010/main" val="41301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EF9A5-BC15-9C44-9AEA-93F5BAAA07AC}"/>
              </a:ext>
            </a:extLst>
          </p:cNvPr>
          <p:cNvSpPr>
            <a:spLocks noGrp="1"/>
          </p:cNvSpPr>
          <p:nvPr>
            <p:ph type="title"/>
          </p:nvPr>
        </p:nvSpPr>
        <p:spPr/>
        <p:txBody>
          <a:bodyPr/>
          <a:lstStyle/>
          <a:p>
            <a:r>
              <a:rPr lang="en-US" sz="4000" dirty="0">
                <a:solidFill>
                  <a:srgbClr val="0B49CB"/>
                </a:solidFill>
                <a:latin typeface="Abadi"/>
              </a:rPr>
              <a:t>Optional: Build a course recommender system app with Streamlit</a:t>
            </a:r>
          </a:p>
        </p:txBody>
      </p:sp>
      <p:sp>
        <p:nvSpPr>
          <p:cNvPr id="4" name="Content Placeholder 4">
            <a:extLst>
              <a:ext uri="{FF2B5EF4-FFF2-40B4-BE49-F238E27FC236}">
                <a16:creationId xmlns:a16="http://schemas.microsoft.com/office/drawing/2014/main" id="{F3C5989F-33DB-E341-8D2D-58919572AF85}"/>
              </a:ext>
            </a:extLst>
          </p:cNvPr>
          <p:cNvSpPr txBox="1">
            <a:spLocks/>
          </p:cNvSpPr>
          <p:nvPr/>
        </p:nvSpPr>
        <p:spPr>
          <a:xfrm>
            <a:off x="855663" y="1792289"/>
            <a:ext cx="4659613"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5" name="Content Placeholder 4">
            <a:extLst>
              <a:ext uri="{FF2B5EF4-FFF2-40B4-BE49-F238E27FC236}">
                <a16:creationId xmlns:a16="http://schemas.microsoft.com/office/drawing/2014/main" id="{1A009626-4E30-F64B-B251-6A848BDAB6FC}"/>
              </a:ext>
            </a:extLst>
          </p:cNvPr>
          <p:cNvSpPr txBox="1">
            <a:spLocks/>
          </p:cNvSpPr>
          <p:nvPr/>
        </p:nvSpPr>
        <p:spPr>
          <a:xfrm>
            <a:off x="6694187" y="1792289"/>
            <a:ext cx="4659613" cy="4011746"/>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200" dirty="0">
              <a:solidFill>
                <a:srgbClr val="1C7DDB"/>
              </a:solidFill>
              <a:latin typeface="Abadi"/>
            </a:endParaRPr>
          </a:p>
        </p:txBody>
      </p:sp>
      <p:sp>
        <p:nvSpPr>
          <p:cNvPr id="8" name="TextBox 7">
            <a:extLst>
              <a:ext uri="{FF2B5EF4-FFF2-40B4-BE49-F238E27FC236}">
                <a16:creationId xmlns:a16="http://schemas.microsoft.com/office/drawing/2014/main" id="{E5AAF09B-75CD-954A-B082-C62620ABA3F3}"/>
              </a:ext>
            </a:extLst>
          </p:cNvPr>
          <p:cNvSpPr txBox="1"/>
          <p:nvPr/>
        </p:nvSpPr>
        <p:spPr>
          <a:xfrm>
            <a:off x="855662" y="1792289"/>
            <a:ext cx="4659613" cy="400110"/>
          </a:xfrm>
          <a:prstGeom prst="rect">
            <a:avLst/>
          </a:prstGeom>
          <a:noFill/>
        </p:spPr>
        <p:txBody>
          <a:bodyPr wrap="square">
            <a:spAutoFit/>
          </a:bodyPr>
          <a:lstStyle/>
          <a:p>
            <a:pPr marL="0" indent="0">
              <a:buNone/>
            </a:pPr>
            <a:r>
              <a:rPr lang="en-US" sz="2000" dirty="0">
                <a:solidFill>
                  <a:srgbClr val="1C7DDB"/>
                </a:solidFill>
                <a:latin typeface="Abadi"/>
              </a:rPr>
              <a:t>Streamlit app screenshot1</a:t>
            </a:r>
          </a:p>
        </p:txBody>
      </p:sp>
      <p:sp>
        <p:nvSpPr>
          <p:cNvPr id="9" name="TextBox 8">
            <a:extLst>
              <a:ext uri="{FF2B5EF4-FFF2-40B4-BE49-F238E27FC236}">
                <a16:creationId xmlns:a16="http://schemas.microsoft.com/office/drawing/2014/main" id="{95157DD3-6050-F54C-AB8E-316EF062F98D}"/>
              </a:ext>
            </a:extLst>
          </p:cNvPr>
          <p:cNvSpPr txBox="1"/>
          <p:nvPr/>
        </p:nvSpPr>
        <p:spPr>
          <a:xfrm>
            <a:off x="6694187" y="1792289"/>
            <a:ext cx="4642150" cy="400110"/>
          </a:xfrm>
          <a:prstGeom prst="rect">
            <a:avLst/>
          </a:prstGeom>
          <a:noFill/>
        </p:spPr>
        <p:txBody>
          <a:bodyPr wrap="square">
            <a:spAutoFit/>
          </a:bodyPr>
          <a:lstStyle/>
          <a:p>
            <a:pPr marL="0" indent="0">
              <a:buNone/>
            </a:pPr>
            <a:r>
              <a:rPr lang="en-US" sz="2000" dirty="0">
                <a:solidFill>
                  <a:srgbClr val="1C7DDB"/>
                </a:solidFill>
                <a:latin typeface="Abadi"/>
              </a:rPr>
              <a:t>Streamlit app screenshot2</a:t>
            </a:r>
          </a:p>
        </p:txBody>
      </p:sp>
      <p:sp>
        <p:nvSpPr>
          <p:cNvPr id="10" name="Content Placeholder 4">
            <a:extLst>
              <a:ext uri="{FF2B5EF4-FFF2-40B4-BE49-F238E27FC236}">
                <a16:creationId xmlns:a16="http://schemas.microsoft.com/office/drawing/2014/main" id="{A5E5D172-C398-C444-9C12-5E48A3C2030B}"/>
              </a:ext>
            </a:extLst>
          </p:cNvPr>
          <p:cNvSpPr txBox="1">
            <a:spLocks/>
          </p:cNvSpPr>
          <p:nvPr/>
        </p:nvSpPr>
        <p:spPr>
          <a:xfrm>
            <a:off x="855663" y="6056427"/>
            <a:ext cx="10498137" cy="436448"/>
          </a:xfrm>
          <a:prstGeom prst="rect">
            <a:avLst/>
          </a:prstGeom>
          <a:ln>
            <a:solidFill>
              <a:srgbClr val="0B49CB"/>
            </a:solidFill>
            <a:prstDash val="dash"/>
          </a:ln>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1C7DDB"/>
                </a:solidFill>
                <a:latin typeface="Abadi"/>
              </a:rPr>
              <a:t>A published Streamlit App URL for a live demo</a:t>
            </a:r>
          </a:p>
        </p:txBody>
      </p:sp>
    </p:spTree>
    <p:extLst>
      <p:ext uri="{BB962C8B-B14F-4D97-AF65-F5344CB8AC3E}">
        <p14:creationId xmlns:p14="http://schemas.microsoft.com/office/powerpoint/2010/main" val="257076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A56319-AADE-D741-AA33-1311B7CA8C0C}"/>
              </a:ext>
            </a:extLst>
          </p:cNvPr>
          <p:cNvSpPr>
            <a:spLocks noGrp="1"/>
          </p:cNvSpPr>
          <p:nvPr>
            <p:ph type="sldNum" sz="quarter" idx="12"/>
          </p:nvPr>
        </p:nvSpPr>
        <p:spPr/>
        <p:txBody>
          <a:bodyPr/>
          <a:lstStyle/>
          <a:p>
            <a:fld id="{5075537C-CA84-1446-933C-8E9D027F9201}" type="slidenum">
              <a:rPr lang="en-US" smtClean="0"/>
              <a:t>22</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75054"/>
            <a:ext cx="5903913" cy="4351338"/>
          </a:xfrm>
          <a:prstGeom prst="rect">
            <a:avLst/>
          </a:prstGeom>
        </p:spPr>
        <p:txBody>
          <a:bodyPr>
            <a:normAutofit/>
          </a:bodyPr>
          <a:lstStyle/>
          <a:p>
            <a:pPr>
              <a:lnSpc>
                <a:spcPct val="100000"/>
              </a:lnSpc>
              <a:spcBef>
                <a:spcPts val="1400"/>
              </a:spcBef>
            </a:pPr>
            <a:r>
              <a:rPr lang="en-US" sz="2000" dirty="0">
                <a:solidFill>
                  <a:schemeClr val="accent3">
                    <a:lumMod val="25000"/>
                  </a:schemeClr>
                </a:solidFill>
                <a:latin typeface="Abadi" panose="020B0604020104020204" pitchFamily="34" charset="0"/>
              </a:rPr>
              <a:t>Point 1</a:t>
            </a:r>
          </a:p>
          <a:p>
            <a:pPr>
              <a:lnSpc>
                <a:spcPct val="100000"/>
              </a:lnSpc>
              <a:spcBef>
                <a:spcPts val="1400"/>
              </a:spcBef>
            </a:pPr>
            <a:r>
              <a:rPr lang="en-US" sz="2000" dirty="0">
                <a:solidFill>
                  <a:schemeClr val="accent3">
                    <a:lumMod val="25000"/>
                  </a:schemeClr>
                </a:solidFill>
                <a:latin typeface="Abadi" panose="020B0604020104020204" pitchFamily="34" charset="0"/>
              </a:rPr>
              <a:t>Point 2</a:t>
            </a:r>
          </a:p>
          <a:p>
            <a:pPr>
              <a:lnSpc>
                <a:spcPct val="100000"/>
              </a:lnSpc>
              <a:spcBef>
                <a:spcPts val="1400"/>
              </a:spcBef>
            </a:pPr>
            <a:r>
              <a:rPr lang="en-US" sz="2000" dirty="0">
                <a:solidFill>
                  <a:schemeClr val="accent3">
                    <a:lumMod val="25000"/>
                  </a:schemeClr>
                </a:solidFill>
                <a:latin typeface="Abadi" panose="020B0604020104020204" pitchFamily="34" charset="0"/>
              </a:rPr>
              <a:t>Point 3</a:t>
            </a:r>
          </a:p>
          <a:p>
            <a:pPr>
              <a:lnSpc>
                <a:spcPct val="100000"/>
              </a:lnSpc>
              <a:spcBef>
                <a:spcPts val="1400"/>
              </a:spcBef>
            </a:pPr>
            <a:r>
              <a:rPr lang="en-US" sz="2000" dirty="0">
                <a:solidFill>
                  <a:schemeClr val="accent3">
                    <a:lumMod val="25000"/>
                  </a:schemeClr>
                </a:solidFill>
                <a:latin typeface="Abadi" panose="020B0604020104020204" pitchFamily="34" charset="0"/>
              </a:rPr>
              <a:t>Point 4</a:t>
            </a:r>
          </a:p>
          <a:p>
            <a:pPr>
              <a:lnSpc>
                <a:spcPct val="100000"/>
              </a:lnSpc>
              <a:spcBef>
                <a:spcPts val="1400"/>
              </a:spcBef>
            </a:pPr>
            <a:r>
              <a:rPr lang="en-US" sz="2000" dirty="0">
                <a:solidFill>
                  <a:schemeClr val="accent3">
                    <a:lumMod val="25000"/>
                  </a:schemeClr>
                </a:solidFill>
                <a:latin typeface="Abadi" panose="020B0604020104020204" pitchFamily="34" charset="0"/>
              </a:rPr>
              <a:t>…</a:t>
            </a:r>
          </a:p>
        </p:txBody>
      </p:sp>
      <p:sp>
        <p:nvSpPr>
          <p:cNvPr id="9" name="Title 1">
            <a:extLst>
              <a:ext uri="{FF2B5EF4-FFF2-40B4-BE49-F238E27FC236}">
                <a16:creationId xmlns:a16="http://schemas.microsoft.com/office/drawing/2014/main" id="{FB98079A-48C6-4E10-8AB1-B940BD1E42DF}"/>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Conclusions</a:t>
            </a:r>
            <a:endParaRPr lang="en-US" dirty="0">
              <a:solidFill>
                <a:srgbClr val="0B49CB"/>
              </a:solidFill>
            </a:endParaRPr>
          </a:p>
        </p:txBody>
      </p:sp>
    </p:spTree>
    <p:extLst>
      <p:ext uri="{BB962C8B-B14F-4D97-AF65-F5344CB8AC3E}">
        <p14:creationId xmlns:p14="http://schemas.microsoft.com/office/powerpoint/2010/main" val="16301236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7525D5A-386D-C541-9D42-BBDEA82289E4}"/>
              </a:ext>
            </a:extLst>
          </p:cNvPr>
          <p:cNvSpPr>
            <a:spLocks noGrp="1"/>
          </p:cNvSpPr>
          <p:nvPr>
            <p:ph type="sldNum" sz="quarter" idx="12"/>
          </p:nvPr>
        </p:nvSpPr>
        <p:spPr/>
        <p:txBody>
          <a:bodyPr/>
          <a:lstStyle/>
          <a:p>
            <a:fld id="{5075537C-CA84-1446-933C-8E9D027F9201}" type="slidenum">
              <a:rPr lang="en-US" smtClean="0"/>
              <a:t>23</a:t>
            </a:fld>
            <a:endParaRPr lang="en-US"/>
          </a:p>
        </p:txBody>
      </p:sp>
      <p:sp>
        <p:nvSpPr>
          <p:cNvPr id="5" name="Content Placeholder 3">
            <a:extLst>
              <a:ext uri="{FF2B5EF4-FFF2-40B4-BE49-F238E27FC236}">
                <a16:creationId xmlns:a16="http://schemas.microsoft.com/office/drawing/2014/main" id="{28684E62-A9F8-4E7A-AB01-78893062A1B4}"/>
              </a:ext>
            </a:extLst>
          </p:cNvPr>
          <p:cNvSpPr>
            <a:spLocks noGrp="1"/>
          </p:cNvSpPr>
          <p:nvPr>
            <p:ph sz="half" idx="4294967295"/>
          </p:nvPr>
        </p:nvSpPr>
        <p:spPr>
          <a:xfrm>
            <a:off x="770011" y="1859522"/>
            <a:ext cx="10515600" cy="4351338"/>
          </a:xfrm>
          <a:prstGeom prst="rect">
            <a:avLst/>
          </a:prstGeom>
        </p:spPr>
        <p:txBody>
          <a:bodyPr>
            <a:normAutofit/>
          </a:bodyPr>
          <a:lstStyle/>
          <a:p>
            <a:pPr>
              <a:lnSpc>
                <a:spcPct val="100000"/>
              </a:lnSpc>
              <a:spcBef>
                <a:spcPts val="1400"/>
              </a:spcBef>
            </a:pPr>
            <a:r>
              <a:rPr lang="en-US" sz="2000" dirty="0">
                <a:solidFill>
                  <a:schemeClr val="accent3">
                    <a:lumMod val="25000"/>
                  </a:schemeClr>
                </a:solidFill>
                <a:latin typeface="Abadi" panose="020B0604020104020204" pitchFamily="34" charset="0"/>
              </a:rPr>
              <a:t>Asset 1</a:t>
            </a:r>
          </a:p>
          <a:p>
            <a:pPr>
              <a:lnSpc>
                <a:spcPct val="100000"/>
              </a:lnSpc>
              <a:spcBef>
                <a:spcPts val="1400"/>
              </a:spcBef>
            </a:pPr>
            <a:r>
              <a:rPr lang="en-US" sz="2000" dirty="0">
                <a:solidFill>
                  <a:schemeClr val="accent3">
                    <a:lumMod val="25000"/>
                  </a:schemeClr>
                </a:solidFill>
                <a:latin typeface="Abadi" panose="020B0604020104020204" pitchFamily="34" charset="0"/>
              </a:rPr>
              <a:t>Asset 2</a:t>
            </a:r>
          </a:p>
          <a:p>
            <a:pPr>
              <a:lnSpc>
                <a:spcPct val="100000"/>
              </a:lnSpc>
              <a:spcBef>
                <a:spcPts val="1400"/>
              </a:spcBef>
            </a:pPr>
            <a:r>
              <a:rPr lang="en-US" sz="2000" dirty="0">
                <a:solidFill>
                  <a:schemeClr val="accent3">
                    <a:lumMod val="25000"/>
                  </a:schemeClr>
                </a:solidFill>
                <a:latin typeface="Abadi" panose="020B0604020104020204" pitchFamily="34" charset="0"/>
              </a:rPr>
              <a:t>Asset 3</a:t>
            </a:r>
          </a:p>
          <a:p>
            <a:pPr>
              <a:lnSpc>
                <a:spcPct val="100000"/>
              </a:lnSpc>
              <a:spcBef>
                <a:spcPts val="1400"/>
              </a:spcBef>
            </a:pPr>
            <a:r>
              <a:rPr lang="en-US" sz="2000" dirty="0">
                <a:solidFill>
                  <a:schemeClr val="accent3">
                    <a:lumMod val="25000"/>
                  </a:schemeClr>
                </a:solidFill>
                <a:latin typeface="Abadi" panose="020B0604020104020204" pitchFamily="34" charset="0"/>
              </a:rPr>
              <a:t>Asset 4</a:t>
            </a:r>
          </a:p>
          <a:p>
            <a:pPr>
              <a:lnSpc>
                <a:spcPct val="100000"/>
              </a:lnSpc>
              <a:spcBef>
                <a:spcPts val="1400"/>
              </a:spcBef>
            </a:pPr>
            <a:r>
              <a:rPr lang="en-US" sz="2000" dirty="0">
                <a:solidFill>
                  <a:schemeClr val="accent3">
                    <a:lumMod val="25000"/>
                  </a:schemeClr>
                </a:solidFill>
                <a:latin typeface="Abadi" panose="020B0604020104020204" pitchFamily="34" charset="0"/>
              </a:rPr>
              <a:t>…</a:t>
            </a:r>
          </a:p>
        </p:txBody>
      </p:sp>
      <p:sp>
        <p:nvSpPr>
          <p:cNvPr id="11" name="Title 1">
            <a:extLst>
              <a:ext uri="{FF2B5EF4-FFF2-40B4-BE49-F238E27FC236}">
                <a16:creationId xmlns:a16="http://schemas.microsoft.com/office/drawing/2014/main" id="{60F8A56C-5EE1-4DBF-842D-C2A130AA680E}"/>
              </a:ext>
            </a:extLst>
          </p:cNvPr>
          <p:cNvSpPr txBox="1">
            <a:spLocks/>
          </p:cNvSpPr>
          <p:nvPr/>
        </p:nvSpPr>
        <p:spPr>
          <a:xfrm>
            <a:off x="770011" y="538650"/>
            <a:ext cx="10515600" cy="54904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solidFill>
                  <a:srgbClr val="0B49CB"/>
                </a:solidFill>
                <a:latin typeface="Abadi"/>
              </a:rPr>
              <a:t>Appendix</a:t>
            </a:r>
            <a:endParaRPr lang="en-US" dirty="0">
              <a:solidFill>
                <a:srgbClr val="0B49CB"/>
              </a:solidFill>
            </a:endParaRPr>
          </a:p>
        </p:txBody>
      </p:sp>
      <p:sp>
        <p:nvSpPr>
          <p:cNvPr id="8" name="TextBox 7">
            <a:extLst>
              <a:ext uri="{FF2B5EF4-FFF2-40B4-BE49-F238E27FC236}">
                <a16:creationId xmlns:a16="http://schemas.microsoft.com/office/drawing/2014/main" id="{7D7A6CAE-F688-4369-AC35-E744AC60CBAB}"/>
              </a:ext>
            </a:extLst>
          </p:cNvPr>
          <p:cNvSpPr txBox="1"/>
          <p:nvPr/>
        </p:nvSpPr>
        <p:spPr>
          <a:xfrm>
            <a:off x="6096000" y="1397675"/>
            <a:ext cx="5770880" cy="2215991"/>
          </a:xfrm>
          <a:prstGeom prst="rect">
            <a:avLst/>
          </a:prstGeom>
          <a:solidFill>
            <a:schemeClr val="bg1">
              <a:lumMod val="85000"/>
            </a:schemeClr>
          </a:solidFill>
        </p:spPr>
        <p:txBody>
          <a:bodyPr wrap="square" rtlCol="0">
            <a:spAutoFit/>
          </a:bodyPr>
          <a:lstStyle/>
          <a:p>
            <a:r>
              <a:rPr lang="en-US" sz="2000" dirty="0"/>
              <a:t>Instructions for learner: </a:t>
            </a:r>
          </a:p>
          <a:p>
            <a:endParaRPr lang="en-US" sz="2000" dirty="0"/>
          </a:p>
          <a:p>
            <a:pPr marL="285750" indent="-285750">
              <a:buFontTx/>
              <a:buChar char="-"/>
            </a:pPr>
            <a:r>
              <a:rPr lang="en-US" sz="2000" dirty="0"/>
              <a:t>Include any relevant assets like a GitHub repo, key Python code snippets, charts, notebook outputs, or deployed </a:t>
            </a:r>
            <a:r>
              <a:rPr lang="en-US" sz="2000" dirty="0" err="1"/>
              <a:t>Streamlit</a:t>
            </a:r>
            <a:r>
              <a:rPr lang="en-US" sz="2000" dirty="0"/>
              <a:t> app URLs that you may have created during this project</a:t>
            </a:r>
          </a:p>
          <a:p>
            <a:endParaRPr lang="en-US" dirty="0"/>
          </a:p>
        </p:txBody>
      </p:sp>
    </p:spTree>
    <p:extLst>
      <p:ext uri="{BB962C8B-B14F-4D97-AF65-F5344CB8AC3E}">
        <p14:creationId xmlns:p14="http://schemas.microsoft.com/office/powerpoint/2010/main" val="3410008520"/>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2" ma:contentTypeDescription="Create a new document." ma:contentTypeScope="" ma:versionID="5271f8e20090c87afed7729ac71f61b2">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cf12c133eb44377ebd94fdb7db4757b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schemaRef ds:uri="http://purl.org/dc/dcmitype/"/>
    <ds:schemaRef ds:uri="http://schemas.microsoft.com/office/2006/metadata/properties"/>
    <ds:schemaRef ds:uri="f80a141d-92ca-4d3d-9308-f7e7b1d44ce8"/>
    <ds:schemaRef ds:uri="http://schemas.microsoft.com/office/2006/documentManagement/types"/>
    <ds:schemaRef ds:uri="http://purl.org/dc/elements/1.1/"/>
    <ds:schemaRef ds:uri="http://www.w3.org/XML/1998/namespace"/>
    <ds:schemaRef ds:uri="http://schemas.microsoft.com/office/infopath/2007/PartnerControls"/>
    <ds:schemaRef ds:uri="http://schemas.openxmlformats.org/package/2006/metadata/core-properties"/>
    <ds:schemaRef ds:uri="155be751-a274-42e8-93fb-f39d3b9bccc8"/>
    <ds:schemaRef ds:uri="http://purl.org/dc/terms/"/>
  </ds:schemaRefs>
</ds:datastoreItem>
</file>

<file path=customXml/itemProps2.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3.xml><?xml version="1.0" encoding="utf-8"?>
<ds:datastoreItem xmlns:ds="http://schemas.openxmlformats.org/officeDocument/2006/customXml" ds:itemID="{FD840426-F08D-42AC-9846-A20E4AB85A26}">
  <ds:schemaRefs>
    <ds:schemaRef ds:uri="155be751-a274-42e8-93fb-f39d3b9bccc8"/>
    <ds:schemaRef ds:uri="f80a141d-92ca-4d3d-9308-f7e7b1d44ce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2546</TotalTime>
  <Words>954</Words>
  <Application>Microsoft Office PowerPoint</Application>
  <PresentationFormat>Widescreen</PresentationFormat>
  <Paragraphs>177</Paragraphs>
  <Slides>23</Slides>
  <Notes>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Custom Design</vt:lpstr>
      <vt:lpstr>PowerPoint Presentation</vt:lpstr>
      <vt:lpstr>PowerPoint Presentation</vt:lpstr>
      <vt:lpstr>PowerPoint Presentation</vt:lpstr>
      <vt:lpstr>Exploratory Data Analysis</vt:lpstr>
      <vt:lpstr>Course counts per genre</vt:lpstr>
      <vt:lpstr>Course enrollment distribution</vt:lpstr>
      <vt:lpstr>20 most popular courses</vt:lpstr>
      <vt:lpstr>Word cloud of course titles</vt:lpstr>
      <vt:lpstr>Content-based Recommender System using Unsupervised Learning</vt:lpstr>
      <vt:lpstr>Flowchart of content-based recommender system using user profile and course genres</vt:lpstr>
      <vt:lpstr>Evaluation results of user profile-based recommender system</vt:lpstr>
      <vt:lpstr>Flowchart of content-based recommender system using course similarity</vt:lpstr>
      <vt:lpstr>Evaluation results of course similarity based recommender system</vt:lpstr>
      <vt:lpstr>Flowchart of clustering-based recommender system</vt:lpstr>
      <vt:lpstr>Evaluation results of clustering-based recommender system</vt:lpstr>
      <vt:lpstr>Collaborative-filtering Recommender System using Supervised Learning</vt:lpstr>
      <vt:lpstr>Flowchart of KNN based recommender system</vt:lpstr>
      <vt:lpstr>Flowchart of NMF based recommender system</vt:lpstr>
      <vt:lpstr>Flowchart of Neural Network Embedding based recommender system</vt:lpstr>
      <vt:lpstr>Compare the performance of collaborative-filtering models</vt:lpstr>
      <vt:lpstr>Optional: Build a course recommender system app with Streamlit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&lt;Title&gt;</dc:title>
  <dc:creator>YAN Luo</dc:creator>
  <cp:lastModifiedBy>Yan Y Luo</cp:lastModifiedBy>
  <cp:revision>906</cp:revision>
  <dcterms:created xsi:type="dcterms:W3CDTF">2021-04-29T18:58:34Z</dcterms:created>
  <dcterms:modified xsi:type="dcterms:W3CDTF">2026-04-07T14:38:08Z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ies>
</file>