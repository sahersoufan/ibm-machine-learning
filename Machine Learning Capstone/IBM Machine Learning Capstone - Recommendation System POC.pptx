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29"/>
  </p:notesMasterIdLst>
  <p:handoutMasterIdLst>
    <p:handoutMasterId r:id="rId30"/>
  </p:handoutMasterIdLst>
  <p:sldIdLst>
    <p:sldId id="336" r:id="rId5"/>
    <p:sldId id="330" r:id="rId6"/>
    <p:sldId id="332" r:id="rId7"/>
    <p:sldId id="337" r:id="rId8"/>
    <p:sldId id="340" r:id="rId9"/>
    <p:sldId id="339" r:id="rId10"/>
    <p:sldId id="341" r:id="rId11"/>
    <p:sldId id="348" r:id="rId12"/>
    <p:sldId id="334" r:id="rId13"/>
    <p:sldId id="342" r:id="rId14"/>
    <p:sldId id="343" r:id="rId15"/>
    <p:sldId id="344" r:id="rId16"/>
    <p:sldId id="345" r:id="rId17"/>
    <p:sldId id="346" r:id="rId18"/>
    <p:sldId id="347" r:id="rId19"/>
    <p:sldId id="335" r:id="rId20"/>
    <p:sldId id="350" r:id="rId21"/>
    <p:sldId id="351" r:id="rId22"/>
    <p:sldId id="352" r:id="rId23"/>
    <p:sldId id="355" r:id="rId24"/>
    <p:sldId id="356" r:id="rId25"/>
    <p:sldId id="353" r:id="rId26"/>
    <p:sldId id="274" r:id="rId27"/>
    <p:sldId id="275" r:id="rId28"/>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590AA-02B3-4ADE-F57B-86D5AB206163}" name="Jarrod Renfro" initials="JR" userId="Jarrod Renfr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F5EACB"/>
    <a:srgbClr val="F2F4F8"/>
    <a:srgbClr val="0948CB"/>
    <a:srgbClr val="0B49CB"/>
    <a:srgbClr val="1C7DDB"/>
    <a:srgbClr val="121619"/>
    <a:srgbClr val="F2F2F2"/>
    <a:srgbClr val="145579"/>
    <a:srgbClr val="3A64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6344B4-B012-190C-FF3D-E98AC32BACD0}" v="3366" dt="2026-04-08T09:22:46.179"/>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89"/>
    <p:restoredTop sz="85169"/>
  </p:normalViewPr>
  <p:slideViewPr>
    <p:cSldViewPr snapToGrid="0" snapToObjects="1">
      <p:cViewPr varScale="1">
        <p:scale>
          <a:sx n="132" d="100"/>
          <a:sy n="132" d="100"/>
        </p:scale>
        <p:origin x="2256" y="184"/>
      </p:cViewPr>
      <p:guideLst>
        <p:guide orient="horz" pos="2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4/8/2026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24181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24</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4/8/2026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2CC">
            <a:alpha val="50000"/>
          </a:srgbClr>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sahersoufan/IBM-Machine-Learning/tree/03ae55305da387b1f02deafb578b5258d2661745/Machine%20Learning%20Capstone"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BCBB462-34C3-D144-9620-F611A0964A6F}"/>
              </a:ext>
            </a:extLst>
          </p:cNvPr>
          <p:cNvGrpSpPr/>
          <p:nvPr/>
        </p:nvGrpSpPr>
        <p:grpSpPr>
          <a:xfrm>
            <a:off x="4271212" y="3429642"/>
            <a:ext cx="6109050" cy="2838753"/>
            <a:chOff x="5136802" y="3703860"/>
            <a:chExt cx="6109050" cy="2838753"/>
          </a:xfrm>
        </p:grpSpPr>
        <p:pic>
          <p:nvPicPr>
            <p:cNvPr id="4" name="Picture 3">
              <a:extLst>
                <a:ext uri="{FF2B5EF4-FFF2-40B4-BE49-F238E27FC236}">
                  <a16:creationId xmlns:a16="http://schemas.microsoft.com/office/drawing/2014/main" id="{522F046B-F6EE-4E47-8C57-F6A6A097D297}"/>
                </a:ext>
              </a:extLst>
            </p:cNvPr>
            <p:cNvPicPr>
              <a:picLocks noChangeAspect="1"/>
            </p:cNvPicPr>
            <p:nvPr/>
          </p:nvPicPr>
          <p:blipFill>
            <a:blip r:embed="rId4"/>
            <a:stretch>
              <a:fillRect/>
            </a:stretch>
          </p:blipFill>
          <p:spPr>
            <a:xfrm>
              <a:off x="5136802" y="3703860"/>
              <a:ext cx="4612478" cy="283875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284E1D9B-0FCE-1D41-A7A6-A153308B8FAB}"/>
                </a:ext>
              </a:extLst>
            </p:cNvPr>
            <p:cNvCxnSpPr>
              <a:cxnSpLocks/>
            </p:cNvCxnSpPr>
            <p:nvPr/>
          </p:nvCxnSpPr>
          <p:spPr>
            <a:xfrm>
              <a:off x="9872146" y="5166220"/>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6D164AC-71BC-794A-89DA-C74C9525C3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48429" y="4861357"/>
              <a:ext cx="497423" cy="514575"/>
            </a:xfrm>
            <a:prstGeom prst="rect">
              <a:avLst/>
            </a:prstGeom>
          </p:spPr>
        </p:pic>
      </p:grpSp>
      <p:sp>
        <p:nvSpPr>
          <p:cNvPr id="2" name="TextBox 1">
            <a:extLst>
              <a:ext uri="{FF2B5EF4-FFF2-40B4-BE49-F238E27FC236}">
                <a16:creationId xmlns:a16="http://schemas.microsoft.com/office/drawing/2014/main" id="{0B08AF69-4D62-3045-9FEF-6800D771C946}"/>
              </a:ext>
            </a:extLst>
          </p:cNvPr>
          <p:cNvSpPr txBox="1"/>
          <p:nvPr/>
        </p:nvSpPr>
        <p:spPr>
          <a:xfrm>
            <a:off x="1756109" y="1119455"/>
            <a:ext cx="8298180" cy="1938992"/>
          </a:xfrm>
          <a:prstGeom prst="rect">
            <a:avLst/>
          </a:prstGeom>
          <a:solidFill>
            <a:schemeClr val="bg1">
              <a:alpha val="86117"/>
            </a:schemeClr>
          </a:solidFill>
        </p:spPr>
        <p:txBody>
          <a:bodyPr wrap="square" rtlCol="0">
            <a:spAutoFit/>
          </a:bodyPr>
          <a:lstStyle/>
          <a:p>
            <a:r>
              <a:rPr lang="en-US" sz="4000" dirty="0">
                <a:latin typeface="Abadi" panose="020B0604020104020204" pitchFamily="34" charset="0"/>
              </a:rPr>
              <a:t>Build a Personalized Online Course Recommender System with Machine Learning</a:t>
            </a:r>
          </a:p>
        </p:txBody>
      </p:sp>
      <p:sp>
        <p:nvSpPr>
          <p:cNvPr id="3" name="TextBox 2">
            <a:extLst>
              <a:ext uri="{FF2B5EF4-FFF2-40B4-BE49-F238E27FC236}">
                <a16:creationId xmlns:a16="http://schemas.microsoft.com/office/drawing/2014/main" id="{68217B24-331B-5040-859E-22982B3A88DA}"/>
              </a:ext>
            </a:extLst>
          </p:cNvPr>
          <p:cNvSpPr txBox="1"/>
          <p:nvPr/>
        </p:nvSpPr>
        <p:spPr>
          <a:xfrm>
            <a:off x="1756109" y="3433006"/>
            <a:ext cx="2514600" cy="646331"/>
          </a:xfrm>
          <a:prstGeom prst="rect">
            <a:avLst/>
          </a:prstGeom>
          <a:noFill/>
        </p:spPr>
        <p:txBody>
          <a:bodyPr wrap="square" lIns="91440" tIns="45720" rIns="91440" bIns="45720" rtlCol="0" anchor="t">
            <a:spAutoFit/>
          </a:bodyPr>
          <a:lstStyle/>
          <a:p>
            <a:r>
              <a:rPr lang="en-US"/>
              <a:t>Hasan Soufan</a:t>
            </a:r>
            <a:endParaRPr lang="en-US" dirty="0"/>
          </a:p>
          <a:p>
            <a:r>
              <a:rPr lang="en-US"/>
              <a:t>07-04-2026</a:t>
            </a:r>
            <a:endParaRPr lang="en-US" dirty="0"/>
          </a:p>
        </p:txBody>
      </p:sp>
      <p:cxnSp>
        <p:nvCxnSpPr>
          <p:cNvPr id="9" name="Straight Arrow Connector 8">
            <a:extLst>
              <a:ext uri="{FF2B5EF4-FFF2-40B4-BE49-F238E27FC236}">
                <a16:creationId xmlns:a16="http://schemas.microsoft.com/office/drawing/2014/main" id="{786D5268-B673-A742-9436-8948B1C5875A}"/>
              </a:ext>
            </a:extLst>
          </p:cNvPr>
          <p:cNvCxnSpPr>
            <a:cxnSpLocks/>
          </p:cNvCxnSpPr>
          <p:nvPr/>
        </p:nvCxnSpPr>
        <p:spPr>
          <a:xfrm>
            <a:off x="8997031" y="5688667"/>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22C788-5750-B448-9946-A3353F7249B8}"/>
              </a:ext>
            </a:extLst>
          </p:cNvPr>
          <p:cNvCxnSpPr>
            <a:cxnSpLocks/>
          </p:cNvCxnSpPr>
          <p:nvPr/>
        </p:nvCxnSpPr>
        <p:spPr>
          <a:xfrm>
            <a:off x="8997031" y="5197126"/>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B8BB15B-3863-C146-97D8-D3D09F989A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82839" y="5387139"/>
            <a:ext cx="497423" cy="514575"/>
          </a:xfrm>
          <a:prstGeom prst="rect">
            <a:avLst/>
          </a:prstGeom>
        </p:spPr>
      </p:pic>
      <p:sp>
        <p:nvSpPr>
          <p:cNvPr id="5" name="Slide Number Placeholder 4">
            <a:extLst>
              <a:ext uri="{FF2B5EF4-FFF2-40B4-BE49-F238E27FC236}">
                <a16:creationId xmlns:a16="http://schemas.microsoft.com/office/drawing/2014/main" id="{F89B9AEC-A4C0-13C0-FC12-A0F010282953}"/>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559186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834872" y="1770340"/>
            <a:ext cx="10515600" cy="3320824"/>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000" dirty="0">
                <a:solidFill>
                  <a:schemeClr val="accent3">
                    <a:lumMod val="25000"/>
                  </a:schemeClr>
                </a:solidFill>
                <a:latin typeface="Abadi"/>
              </a:rPr>
              <a:t>Introduction and Background</a:t>
            </a:r>
          </a:p>
          <a:p>
            <a:pPr>
              <a:lnSpc>
                <a:spcPct val="100000"/>
              </a:lnSpc>
              <a:spcBef>
                <a:spcPts val="1400"/>
              </a:spcBef>
            </a:pPr>
            <a:r>
              <a:rPr lang="en-US" sz="2000" dirty="0">
                <a:solidFill>
                  <a:schemeClr val="accent3">
                    <a:lumMod val="25000"/>
                  </a:schemeClr>
                </a:solidFill>
                <a:latin typeface="Abadi"/>
              </a:rPr>
              <a:t>Exploratory Data Analysis</a:t>
            </a:r>
          </a:p>
          <a:p>
            <a:pPr>
              <a:lnSpc>
                <a:spcPct val="100000"/>
              </a:lnSpc>
              <a:spcBef>
                <a:spcPts val="1400"/>
              </a:spcBef>
            </a:pPr>
            <a:r>
              <a:rPr lang="en-US" sz="2000" dirty="0">
                <a:solidFill>
                  <a:schemeClr val="accent3">
                    <a:lumMod val="25000"/>
                  </a:schemeClr>
                </a:solidFill>
                <a:latin typeface="Abadi"/>
              </a:rPr>
              <a:t>Content-based Recommender System using Unsupervised Learning</a:t>
            </a:r>
          </a:p>
          <a:p>
            <a:pPr>
              <a:lnSpc>
                <a:spcPct val="100000"/>
              </a:lnSpc>
              <a:spcBef>
                <a:spcPts val="1400"/>
              </a:spcBef>
            </a:pPr>
            <a:r>
              <a:rPr lang="en-US" sz="2000" dirty="0">
                <a:solidFill>
                  <a:schemeClr val="accent3">
                    <a:lumMod val="25000"/>
                  </a:schemeClr>
                </a:solidFill>
                <a:latin typeface="Abadi"/>
              </a:rPr>
              <a:t>Collaborative-filtering based Recommender System using Supervised learning</a:t>
            </a:r>
          </a:p>
          <a:p>
            <a:pPr>
              <a:lnSpc>
                <a:spcPct val="100000"/>
              </a:lnSpc>
              <a:spcBef>
                <a:spcPts val="1400"/>
              </a:spcBef>
            </a:pPr>
            <a:r>
              <a:rPr lang="en-US" sz="2000" dirty="0">
                <a:solidFill>
                  <a:schemeClr val="accent3">
                    <a:lumMod val="25000"/>
                  </a:schemeClr>
                </a:solidFill>
                <a:latin typeface="Abadi"/>
              </a:rPr>
              <a:t>Conclusion</a:t>
            </a:r>
          </a:p>
          <a:p>
            <a:pPr>
              <a:lnSpc>
                <a:spcPct val="100000"/>
              </a:lnSpc>
              <a:spcBef>
                <a:spcPts val="1400"/>
              </a:spcBef>
            </a:pPr>
            <a:r>
              <a:rPr lang="en-US" sz="20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4300" dirty="0">
                <a:solidFill>
                  <a:schemeClr val="accent4">
                    <a:lumMod val="76000"/>
                  </a:schemeClr>
                </a:solidFill>
                <a:latin typeface="Abadi"/>
              </a:rPr>
              <a:t>Outline</a:t>
            </a:r>
            <a:endParaRPr lang="en-US" dirty="0">
              <a:solidFill>
                <a:schemeClr val="accent4">
                  <a:lumMod val="76000"/>
                </a:schemeClr>
              </a:solidFill>
              <a:latin typeface="Abadi"/>
            </a:endParaRPr>
          </a:p>
        </p:txBody>
      </p:sp>
      <p:sp>
        <p:nvSpPr>
          <p:cNvPr id="2" name="Slide Number Placeholder 1">
            <a:extLst>
              <a:ext uri="{FF2B5EF4-FFF2-40B4-BE49-F238E27FC236}">
                <a16:creationId xmlns:a16="http://schemas.microsoft.com/office/drawing/2014/main" id="{FA1297A8-0D5D-D3C8-2790-29F687A5CFF0}"/>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a:t>
            </a:fld>
            <a:endParaRPr lang="en-US">
              <a:solidFill>
                <a:schemeClr val="accent4">
                  <a:lumMod val="76000"/>
                </a:schemeClr>
              </a:solidFill>
              <a:latin typeface="Abadi"/>
            </a:endParaRP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chemeClr val="accent4">
                    <a:lumMod val="76000"/>
                  </a:schemeClr>
                </a:solidFill>
                <a:latin typeface="Abadi"/>
              </a:rPr>
              <a:t>Introduction</a:t>
            </a:r>
            <a:endParaRPr lang="en-US">
              <a:solidFill>
                <a:schemeClr val="accent4">
                  <a:lumMod val="76000"/>
                </a:schemeClr>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1000450" y="1999486"/>
            <a:ext cx="10191086" cy="2869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000" dirty="0">
                <a:solidFill>
                  <a:schemeClr val="accent3">
                    <a:lumMod val="25000"/>
                  </a:schemeClr>
                </a:solidFill>
                <a:latin typeface="Abadi"/>
              </a:rPr>
              <a:t>Learner across the world increasingly seek to acquire skills in leading technologies such as Machine Learning, Ai, Data Science, Cloud, App Development, </a:t>
            </a:r>
            <a:r>
              <a:rPr lang="en-US" sz="2000" dirty="0" err="1">
                <a:solidFill>
                  <a:schemeClr val="accent3">
                    <a:lumMod val="25000"/>
                  </a:schemeClr>
                </a:solidFill>
                <a:latin typeface="Abadi"/>
              </a:rPr>
              <a:t>etc</a:t>
            </a:r>
            <a:r>
              <a:rPr lang="en-US" sz="2000" dirty="0">
                <a:solidFill>
                  <a:schemeClr val="accent3">
                    <a:lumMod val="25000"/>
                  </a:schemeClr>
                </a:solidFill>
                <a:latin typeface="Abadi"/>
              </a:rPr>
              <a:t>, However with the growing number of available courses, it becomes difficult for the learners to identify relevant content efficiently. To improve the learning experience a recommender system can users discover aligned with their interests and effectively guide their learning path.</a:t>
            </a:r>
          </a:p>
          <a:p>
            <a:pPr>
              <a:spcBef>
                <a:spcPts val="1400"/>
              </a:spcBef>
            </a:pPr>
            <a:r>
              <a:rPr lang="en-US" sz="2000" dirty="0">
                <a:solidFill>
                  <a:schemeClr val="accent3">
                    <a:lumMod val="25000"/>
                  </a:schemeClr>
                </a:solidFill>
                <a:latin typeface="Abadi"/>
              </a:rPr>
              <a:t>Currently, learners struggle to discover relevant courses due to the large volume of available content. This led to inefficient course selection and reduced engagement, ultimately affecting learning outcomes and platform effectiveness.</a:t>
            </a:r>
          </a:p>
        </p:txBody>
      </p:sp>
      <p:sp>
        <p:nvSpPr>
          <p:cNvPr id="2" name="Slide Number Placeholder 1">
            <a:extLst>
              <a:ext uri="{FF2B5EF4-FFF2-40B4-BE49-F238E27FC236}">
                <a16:creationId xmlns:a16="http://schemas.microsoft.com/office/drawing/2014/main" id="{A2502EEF-B47A-ED2C-4705-812E3B08D9B9}"/>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3</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56006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Exploratory Data Analysis</a:t>
            </a:r>
            <a:endParaRPr lang="en-US" dirty="0"/>
          </a:p>
        </p:txBody>
      </p:sp>
      <p:pic>
        <p:nvPicPr>
          <p:cNvPr id="36" name="Graphic 35">
            <a:extLst>
              <a:ext uri="{FF2B5EF4-FFF2-40B4-BE49-F238E27FC236}">
                <a16:creationId xmlns:a16="http://schemas.microsoft.com/office/drawing/2014/main" id="{693C86CF-B31B-4549-BA68-C5C2DB4748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91932" y="5512024"/>
            <a:ext cx="1028790" cy="1028790"/>
          </a:xfrm>
          <a:prstGeom prst="rect">
            <a:avLst/>
          </a:prstGeom>
        </p:spPr>
      </p:pic>
      <p:sp>
        <p:nvSpPr>
          <p:cNvPr id="2" name="Slide Number Placeholder 1">
            <a:extLst>
              <a:ext uri="{FF2B5EF4-FFF2-40B4-BE49-F238E27FC236}">
                <a16:creationId xmlns:a16="http://schemas.microsoft.com/office/drawing/2014/main" id="{72A9B8E7-6D90-B5C4-9212-A1088152E08A}"/>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4</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60883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Course counts per genre</a:t>
            </a:r>
          </a:p>
        </p:txBody>
      </p:sp>
      <p:sp>
        <p:nvSpPr>
          <p:cNvPr id="8" name="Content Placeholder 4">
            <a:extLst>
              <a:ext uri="{FF2B5EF4-FFF2-40B4-BE49-F238E27FC236}">
                <a16:creationId xmlns:a16="http://schemas.microsoft.com/office/drawing/2014/main" id="{8653FA46-2212-42E4-9D89-321A9B15A6C2}"/>
              </a:ext>
            </a:extLst>
          </p:cNvPr>
          <p:cNvSpPr txBox="1">
            <a:spLocks/>
          </p:cNvSpPr>
          <p:nvPr/>
        </p:nvSpPr>
        <p:spPr>
          <a:xfrm>
            <a:off x="834787" y="1792289"/>
            <a:ext cx="635069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This chart shows the distribution of courses enrollments across different categories.</a:t>
            </a:r>
          </a:p>
          <a:p>
            <a:pPr>
              <a:buFont typeface="Calibri" panose="020B0604020202020204" pitchFamily="34" charset="0"/>
              <a:buChar char="-"/>
            </a:pPr>
            <a:r>
              <a:rPr lang="en-US" sz="2000" dirty="0">
                <a:solidFill>
                  <a:schemeClr val="accent4">
                    <a:lumMod val="49000"/>
                  </a:schemeClr>
                </a:solidFill>
                <a:latin typeface="Abadi"/>
              </a:rPr>
              <a:t>The x axis represent the courses genre, and the y axis </a:t>
            </a:r>
            <a:r>
              <a:rPr lang="en-US" sz="2000">
                <a:solidFill>
                  <a:schemeClr val="accent4">
                    <a:lumMod val="49000"/>
                  </a:schemeClr>
                </a:solidFill>
                <a:latin typeface="Abadi"/>
              </a:rPr>
              <a:t>show the number of enrollments.</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We can see that </a:t>
            </a:r>
            <a:r>
              <a:rPr lang="en-US" sz="2000" dirty="0" err="1">
                <a:solidFill>
                  <a:schemeClr val="accent4">
                    <a:lumMod val="49000"/>
                  </a:schemeClr>
                </a:solidFill>
                <a:latin typeface="Abadi"/>
              </a:rPr>
              <a:t>BackendDev</a:t>
            </a:r>
            <a:r>
              <a:rPr lang="en-US" sz="2000" dirty="0">
                <a:solidFill>
                  <a:schemeClr val="accent4">
                    <a:lumMod val="49000"/>
                  </a:schemeClr>
                </a:solidFill>
                <a:latin typeface="Abadi"/>
              </a:rPr>
              <a:t> has the highest enrollments and the </a:t>
            </a:r>
            <a:r>
              <a:rPr lang="en-US" sz="2000" dirty="0" err="1">
                <a:solidFill>
                  <a:schemeClr val="accent4">
                    <a:lumMod val="49000"/>
                  </a:schemeClr>
                </a:solidFill>
                <a:latin typeface="Abadi"/>
              </a:rPr>
              <a:t>Blcokchain</a:t>
            </a:r>
            <a:r>
              <a:rPr lang="en-US" sz="2000" dirty="0">
                <a:solidFill>
                  <a:schemeClr val="accent4">
                    <a:lumMod val="49000"/>
                  </a:schemeClr>
                </a:solidFill>
                <a:latin typeface="Abadi"/>
              </a:rPr>
              <a:t> has the lowest.</a:t>
            </a:r>
          </a:p>
          <a:p>
            <a:pPr>
              <a:buFont typeface="Calibri" panose="020B0604020202020204" pitchFamily="34" charset="0"/>
              <a:buChar char="-"/>
            </a:pPr>
            <a:r>
              <a:rPr lang="en-US" sz="2000" dirty="0">
                <a:solidFill>
                  <a:schemeClr val="accent4">
                    <a:lumMod val="49000"/>
                  </a:schemeClr>
                </a:solidFill>
                <a:latin typeface="Abadi"/>
              </a:rPr>
              <a:t>Following the trend we can see the learners are more </a:t>
            </a:r>
            <a:r>
              <a:rPr lang="en-US" sz="2000" dirty="0" err="1">
                <a:solidFill>
                  <a:schemeClr val="accent4">
                    <a:lumMod val="49000"/>
                  </a:schemeClr>
                </a:solidFill>
                <a:latin typeface="Abadi"/>
              </a:rPr>
              <a:t>interstead</a:t>
            </a:r>
            <a:r>
              <a:rPr lang="en-US" sz="2000" dirty="0">
                <a:solidFill>
                  <a:schemeClr val="accent4">
                    <a:lumMod val="49000"/>
                  </a:schemeClr>
                </a:solidFill>
                <a:latin typeface="Abadi"/>
              </a:rPr>
              <a:t> in Data, ML and Backend skills.</a:t>
            </a:r>
          </a:p>
          <a:p>
            <a:pPr>
              <a:buFont typeface="Calibri"/>
              <a:buChar char="-"/>
            </a:pPr>
            <a:endParaRPr lang="en-US" sz="2200" dirty="0">
              <a:solidFill>
                <a:srgbClr val="1C7DDB"/>
              </a:solidFill>
              <a:latin typeface="Abadi"/>
            </a:endParaRPr>
          </a:p>
        </p:txBody>
      </p:sp>
      <p:pic>
        <p:nvPicPr>
          <p:cNvPr id="2" name="Picture 1">
            <a:extLst>
              <a:ext uri="{FF2B5EF4-FFF2-40B4-BE49-F238E27FC236}">
                <a16:creationId xmlns:a16="http://schemas.microsoft.com/office/drawing/2014/main" id="{2FE59563-7F59-2956-4509-67E2EBEC9178}"/>
              </a:ext>
            </a:extLst>
          </p:cNvPr>
          <p:cNvPicPr>
            <a:picLocks noChangeAspect="1"/>
          </p:cNvPicPr>
          <p:nvPr/>
        </p:nvPicPr>
        <p:blipFill>
          <a:blip r:embed="rId2"/>
          <a:stretch>
            <a:fillRect/>
          </a:stretch>
        </p:blipFill>
        <p:spPr>
          <a:xfrm>
            <a:off x="7438241" y="1790113"/>
            <a:ext cx="4131762" cy="3998020"/>
          </a:xfrm>
          <a:prstGeom prst="rect">
            <a:avLst/>
          </a:prstGeom>
        </p:spPr>
      </p:pic>
      <p:sp>
        <p:nvSpPr>
          <p:cNvPr id="3" name="Slide Number Placeholder 2">
            <a:extLst>
              <a:ext uri="{FF2B5EF4-FFF2-40B4-BE49-F238E27FC236}">
                <a16:creationId xmlns:a16="http://schemas.microsoft.com/office/drawing/2014/main" id="{EEC4FFDA-9333-AF76-F1C1-0550E672494C}"/>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5</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7655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Course enrollment distribution</a:t>
            </a:r>
          </a:p>
        </p:txBody>
      </p:sp>
      <p:sp>
        <p:nvSpPr>
          <p:cNvPr id="5" name="Content Placeholder 4">
            <a:extLst>
              <a:ext uri="{FF2B5EF4-FFF2-40B4-BE49-F238E27FC236}">
                <a16:creationId xmlns:a16="http://schemas.microsoft.com/office/drawing/2014/main" id="{BD9502B7-709A-E4A6-293D-BBA0B8E28F42}"/>
              </a:ext>
            </a:extLst>
          </p:cNvPr>
          <p:cNvSpPr txBox="1">
            <a:spLocks/>
          </p:cNvSpPr>
          <p:nvPr/>
        </p:nvSpPr>
        <p:spPr>
          <a:xfrm>
            <a:off x="834787" y="1792289"/>
            <a:ext cx="635069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This chart shows the distribution of </a:t>
            </a:r>
            <a:r>
              <a:rPr lang="en-US" sz="2000">
                <a:solidFill>
                  <a:schemeClr val="accent4">
                    <a:lumMod val="49000"/>
                  </a:schemeClr>
                </a:solidFill>
                <a:latin typeface="Abadi"/>
              </a:rPr>
              <a:t>courses enrollments across users.</a:t>
            </a:r>
          </a:p>
          <a:p>
            <a:pPr>
              <a:buFont typeface="Calibri" panose="020B0604020202020204" pitchFamily="34" charset="0"/>
              <a:buChar char="-"/>
            </a:pPr>
            <a:r>
              <a:rPr lang="en-US" sz="2000">
                <a:solidFill>
                  <a:schemeClr val="accent4">
                    <a:lumMod val="49000"/>
                  </a:schemeClr>
                </a:solidFill>
                <a:latin typeface="Abadi"/>
              </a:rPr>
              <a:t>The x axis represent the courses number, and the y axis show the number of users (count).</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 most users are </a:t>
            </a:r>
            <a:r>
              <a:rPr lang="en-US" sz="2000">
                <a:solidFill>
                  <a:schemeClr val="accent4">
                    <a:lumMod val="49000"/>
                  </a:schemeClr>
                </a:solidFill>
                <a:latin typeface="Abadi"/>
              </a:rPr>
              <a:t>concentrated below 10 courses.</a:t>
            </a:r>
          </a:p>
          <a:p>
            <a:pPr>
              <a:buFont typeface="Calibri" panose="020B0604020202020204" pitchFamily="34" charset="0"/>
              <a:buChar char="-"/>
            </a:pPr>
            <a:r>
              <a:rPr lang="en-US" sz="2000" dirty="0">
                <a:solidFill>
                  <a:schemeClr val="accent4">
                    <a:lumMod val="49000"/>
                  </a:schemeClr>
                </a:solidFill>
                <a:latin typeface="Abadi"/>
              </a:rPr>
              <a:t>The </a:t>
            </a:r>
            <a:r>
              <a:rPr lang="en-US" sz="2000" dirty="0" err="1">
                <a:solidFill>
                  <a:schemeClr val="accent4">
                    <a:lumMod val="49000"/>
                  </a:schemeClr>
                </a:solidFill>
                <a:latin typeface="Abadi"/>
              </a:rPr>
              <a:t>distri</a:t>
            </a:r>
            <a:r>
              <a:rPr lang="en-US" sz="2000" dirty="0">
                <a:solidFill>
                  <a:schemeClr val="accent4">
                    <a:lumMod val="49000"/>
                  </a:schemeClr>
                </a:solidFill>
                <a:latin typeface="Abadi"/>
              </a:rPr>
              <a:t>bution is skewed to the right indicating that while most users take few courses, a small number of users enroll in many courses</a:t>
            </a:r>
          </a:p>
        </p:txBody>
      </p:sp>
      <p:pic>
        <p:nvPicPr>
          <p:cNvPr id="9" name="Picture 8" descr="A graph of a number of blue lines&#10;&#10;AI-generated content may be incorrect.">
            <a:extLst>
              <a:ext uri="{FF2B5EF4-FFF2-40B4-BE49-F238E27FC236}">
                <a16:creationId xmlns:a16="http://schemas.microsoft.com/office/drawing/2014/main" id="{E51FD8EB-949A-8664-B048-30130343E6A6}"/>
              </a:ext>
            </a:extLst>
          </p:cNvPr>
          <p:cNvPicPr>
            <a:picLocks noChangeAspect="1"/>
          </p:cNvPicPr>
          <p:nvPr/>
        </p:nvPicPr>
        <p:blipFill>
          <a:blip r:embed="rId2"/>
          <a:stretch>
            <a:fillRect/>
          </a:stretch>
        </p:blipFill>
        <p:spPr>
          <a:xfrm>
            <a:off x="7446463" y="1796115"/>
            <a:ext cx="4480665" cy="4006893"/>
          </a:xfrm>
          <a:prstGeom prst="rect">
            <a:avLst/>
          </a:prstGeom>
        </p:spPr>
      </p:pic>
      <p:sp>
        <p:nvSpPr>
          <p:cNvPr id="2" name="Slide Number Placeholder 1">
            <a:extLst>
              <a:ext uri="{FF2B5EF4-FFF2-40B4-BE49-F238E27FC236}">
                <a16:creationId xmlns:a16="http://schemas.microsoft.com/office/drawing/2014/main" id="{1A78B284-0945-C88D-6837-5E30CF3395AE}"/>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6</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94570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20 most popular courses</a:t>
            </a:r>
          </a:p>
        </p:txBody>
      </p:sp>
      <p:sp>
        <p:nvSpPr>
          <p:cNvPr id="5" name="Content Placeholder 4">
            <a:extLst>
              <a:ext uri="{FF2B5EF4-FFF2-40B4-BE49-F238E27FC236}">
                <a16:creationId xmlns:a16="http://schemas.microsoft.com/office/drawing/2014/main" id="{08F8B35F-65D1-F978-0B92-8BDC218A04B4}"/>
              </a:ext>
            </a:extLst>
          </p:cNvPr>
          <p:cNvSpPr txBox="1">
            <a:spLocks/>
          </p:cNvSpPr>
          <p:nvPr/>
        </p:nvSpPr>
        <p:spPr>
          <a:xfrm>
            <a:off x="834787" y="1792289"/>
            <a:ext cx="635069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The top 20 courses show a clear concentration of enrollments in a few highly popular courses, with the </a:t>
            </a:r>
            <a:r>
              <a:rPr lang="en-US" sz="2000">
                <a:solidFill>
                  <a:schemeClr val="accent4">
                    <a:lumMod val="49000"/>
                  </a:schemeClr>
                </a:solidFill>
                <a:latin typeface="Abadi"/>
              </a:rPr>
              <a:t>top courses exceeding 13000 enrollments.</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 After the top 5, there is </a:t>
            </a:r>
            <a:r>
              <a:rPr lang="en-US" sz="2000">
                <a:solidFill>
                  <a:schemeClr val="accent4">
                    <a:lumMod val="49000"/>
                  </a:schemeClr>
                </a:solidFill>
                <a:latin typeface="Abadi"/>
              </a:rPr>
              <a:t>noticeable drop, with enrollments decreasing to around 8000 and below.</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This indicate that a small number of courses dominate users interest.</a:t>
            </a:r>
          </a:p>
        </p:txBody>
      </p:sp>
      <p:pic>
        <p:nvPicPr>
          <p:cNvPr id="9" name="Picture 8" descr="A screenshot of a computer&#10;&#10;AI-generated content may be incorrect.">
            <a:extLst>
              <a:ext uri="{FF2B5EF4-FFF2-40B4-BE49-F238E27FC236}">
                <a16:creationId xmlns:a16="http://schemas.microsoft.com/office/drawing/2014/main" id="{502717EB-545A-CF61-D533-C8F441A8259F}"/>
              </a:ext>
            </a:extLst>
          </p:cNvPr>
          <p:cNvPicPr>
            <a:picLocks noChangeAspect="1"/>
          </p:cNvPicPr>
          <p:nvPr/>
        </p:nvPicPr>
        <p:blipFill>
          <a:blip r:embed="rId2"/>
          <a:stretch>
            <a:fillRect/>
          </a:stretch>
        </p:blipFill>
        <p:spPr>
          <a:xfrm>
            <a:off x="7620197" y="1193887"/>
            <a:ext cx="3433827" cy="5190473"/>
          </a:xfrm>
          <a:prstGeom prst="rect">
            <a:avLst/>
          </a:prstGeom>
        </p:spPr>
      </p:pic>
      <p:sp>
        <p:nvSpPr>
          <p:cNvPr id="2" name="Slide Number Placeholder 1">
            <a:extLst>
              <a:ext uri="{FF2B5EF4-FFF2-40B4-BE49-F238E27FC236}">
                <a16:creationId xmlns:a16="http://schemas.microsoft.com/office/drawing/2014/main" id="{6DA4D400-59D3-2618-07E0-75EDC0BC65EB}"/>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7</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81879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Word cloud of course titles</a:t>
            </a:r>
          </a:p>
        </p:txBody>
      </p:sp>
      <p:pic>
        <p:nvPicPr>
          <p:cNvPr id="9" name="Picture 8" descr="A close-up of words&#10;&#10;AI-generated content may be incorrect.">
            <a:extLst>
              <a:ext uri="{FF2B5EF4-FFF2-40B4-BE49-F238E27FC236}">
                <a16:creationId xmlns:a16="http://schemas.microsoft.com/office/drawing/2014/main" id="{33F391F5-DB2B-E828-B12D-FBF43E93055F}"/>
              </a:ext>
            </a:extLst>
          </p:cNvPr>
          <p:cNvPicPr>
            <a:picLocks noChangeAspect="1"/>
          </p:cNvPicPr>
          <p:nvPr/>
        </p:nvPicPr>
        <p:blipFill>
          <a:blip r:embed="rId2"/>
          <a:stretch>
            <a:fillRect/>
          </a:stretch>
        </p:blipFill>
        <p:spPr>
          <a:xfrm>
            <a:off x="5690340" y="1794811"/>
            <a:ext cx="6124444" cy="4009504"/>
          </a:xfrm>
          <a:prstGeom prst="rect">
            <a:avLst/>
          </a:prstGeom>
        </p:spPr>
      </p:pic>
      <p:sp>
        <p:nvSpPr>
          <p:cNvPr id="12" name="Content Placeholder 4">
            <a:extLst>
              <a:ext uri="{FF2B5EF4-FFF2-40B4-BE49-F238E27FC236}">
                <a16:creationId xmlns:a16="http://schemas.microsoft.com/office/drawing/2014/main" id="{A65D499B-85FA-65FF-E5D4-F78F56F25C8A}"/>
              </a:ext>
            </a:extLst>
          </p:cNvPr>
          <p:cNvSpPr txBox="1">
            <a:spLocks/>
          </p:cNvSpPr>
          <p:nvPr/>
        </p:nvSpPr>
        <p:spPr>
          <a:xfrm>
            <a:off x="834787" y="1792289"/>
            <a:ext cx="4492669"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This word cloud represent the most frequent keywords across the courses titles and descriptions, larger words indicate higher frequency and importance.</a:t>
            </a:r>
          </a:p>
          <a:p>
            <a:pPr>
              <a:buFont typeface="Calibri" panose="020B0604020202020204" pitchFamily="34" charset="0"/>
              <a:buChar char="-"/>
            </a:pPr>
            <a:r>
              <a:rPr lang="en-US" sz="2000" dirty="0">
                <a:solidFill>
                  <a:schemeClr val="accent4">
                    <a:lumMod val="49000"/>
                  </a:schemeClr>
                </a:solidFill>
                <a:latin typeface="Abadi"/>
              </a:rPr>
              <a:t>We can observe that words like data science, data, python and machine learning dominate, suggesting a strong focus on data-driven and AI related topics.</a:t>
            </a:r>
          </a:p>
        </p:txBody>
      </p:sp>
      <p:sp>
        <p:nvSpPr>
          <p:cNvPr id="2" name="Slide Number Placeholder 1">
            <a:extLst>
              <a:ext uri="{FF2B5EF4-FFF2-40B4-BE49-F238E27FC236}">
                <a16:creationId xmlns:a16="http://schemas.microsoft.com/office/drawing/2014/main" id="{D8BE13C8-73EC-AF33-E4F2-3BE5322AEB8A}"/>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8</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126893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Content-based Recommender System using Unsupervised Learning</a:t>
            </a:r>
            <a:endParaRPr lang="en-US" dirty="0"/>
          </a:p>
        </p:txBody>
      </p:sp>
      <p:grpSp>
        <p:nvGrpSpPr>
          <p:cNvPr id="6" name="Group 5">
            <a:extLst>
              <a:ext uri="{FF2B5EF4-FFF2-40B4-BE49-F238E27FC236}">
                <a16:creationId xmlns:a16="http://schemas.microsoft.com/office/drawing/2014/main" id="{3E5A2644-0171-6540-A231-9FCA3C81BFE2}"/>
              </a:ext>
            </a:extLst>
          </p:cNvPr>
          <p:cNvGrpSpPr/>
          <p:nvPr/>
        </p:nvGrpSpPr>
        <p:grpSpPr>
          <a:xfrm>
            <a:off x="10108253" y="4562475"/>
            <a:ext cx="1777449" cy="1936444"/>
            <a:chOff x="6518030" y="1903899"/>
            <a:chExt cx="1777449" cy="1936444"/>
          </a:xfrm>
        </p:grpSpPr>
        <p:grpSp>
          <p:nvGrpSpPr>
            <p:cNvPr id="11" name="Group 10">
              <a:extLst>
                <a:ext uri="{FF2B5EF4-FFF2-40B4-BE49-F238E27FC236}">
                  <a16:creationId xmlns:a16="http://schemas.microsoft.com/office/drawing/2014/main" id="{A41B8904-28C2-BB44-8166-C42C96ED6936}"/>
                </a:ext>
              </a:extLst>
            </p:cNvPr>
            <p:cNvGrpSpPr/>
            <p:nvPr/>
          </p:nvGrpSpPr>
          <p:grpSpPr>
            <a:xfrm>
              <a:off x="6580009" y="2268106"/>
              <a:ext cx="1530912" cy="1268847"/>
              <a:chOff x="6371670" y="1861616"/>
              <a:chExt cx="1530912" cy="1268847"/>
            </a:xfrm>
          </p:grpSpPr>
          <p:grpSp>
            <p:nvGrpSpPr>
              <p:cNvPr id="12" name="Group 11">
                <a:extLst>
                  <a:ext uri="{FF2B5EF4-FFF2-40B4-BE49-F238E27FC236}">
                    <a16:creationId xmlns:a16="http://schemas.microsoft.com/office/drawing/2014/main" id="{7636D0BA-2B52-A240-B7B8-0256F4E2A394}"/>
                  </a:ext>
                </a:extLst>
              </p:cNvPr>
              <p:cNvGrpSpPr/>
              <p:nvPr/>
            </p:nvGrpSpPr>
            <p:grpSpPr>
              <a:xfrm>
                <a:off x="6371670" y="2318149"/>
                <a:ext cx="812314" cy="812314"/>
                <a:chOff x="1306239" y="1551525"/>
                <a:chExt cx="2116181" cy="2116182"/>
              </a:xfrm>
              <a:noFill/>
            </p:grpSpPr>
            <p:sp>
              <p:nvSpPr>
                <p:cNvPr id="25" name="Oval 24">
                  <a:extLst>
                    <a:ext uri="{FF2B5EF4-FFF2-40B4-BE49-F238E27FC236}">
                      <a16:creationId xmlns:a16="http://schemas.microsoft.com/office/drawing/2014/main" id="{24F59816-7FAC-974F-A8D7-19B047D553D1}"/>
                    </a:ext>
                  </a:extLst>
                </p:cNvPr>
                <p:cNvSpPr/>
                <p:nvPr/>
              </p:nvSpPr>
              <p:spPr>
                <a:xfrm>
                  <a:off x="1306239" y="1551525"/>
                  <a:ext cx="2116181"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C838075-FE41-3C47-B7F8-7CD30B06125D}"/>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7CEC24-7385-FC49-A319-AB8C2130A10A}"/>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C96BD4-7E7A-8445-86C6-6BF36139BBEF}"/>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72FE188-017A-B643-9B83-F2A767174EFF}"/>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566CA9-49EE-AB41-83BE-DE726A76CE6A}"/>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F5C28428-062D-E14C-82E6-DA94F7EF31AB}"/>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9CEB11-DD69-474E-BBAE-8C10177D3C3F}"/>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68BDB6-C52E-DD4A-B920-6CBEF8EE3F5F}"/>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BE7FA6-4444-D940-BE86-2E836B237A97}"/>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3476B79-2F43-EC40-8768-FE48D7B6AA2E}"/>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179D4550-5CE1-9E49-9733-CBA34FE0DD54}"/>
                  </a:ext>
                </a:extLst>
              </p:cNvPr>
              <p:cNvGrpSpPr/>
              <p:nvPr/>
            </p:nvGrpSpPr>
            <p:grpSpPr>
              <a:xfrm>
                <a:off x="7090268" y="1861616"/>
                <a:ext cx="812314" cy="812314"/>
                <a:chOff x="1306241" y="1551525"/>
                <a:chExt cx="2116182" cy="2116182"/>
              </a:xfrm>
              <a:noFill/>
            </p:grpSpPr>
            <p:sp>
              <p:nvSpPr>
                <p:cNvPr id="14" name="Oval 13">
                  <a:extLst>
                    <a:ext uri="{FF2B5EF4-FFF2-40B4-BE49-F238E27FC236}">
                      <a16:creationId xmlns:a16="http://schemas.microsoft.com/office/drawing/2014/main" id="{3EDBC5E1-AEE7-2A4C-9CCE-D6FE884FE831}"/>
                    </a:ext>
                  </a:extLst>
                </p:cNvPr>
                <p:cNvSpPr/>
                <p:nvPr/>
              </p:nvSpPr>
              <p:spPr>
                <a:xfrm>
                  <a:off x="1306241" y="1551525"/>
                  <a:ext cx="2116182"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7DE73D3B-6172-AD4A-8114-5DA3984DA6B8}"/>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62E44D-FBA1-D543-B29E-3BD27B00E509}"/>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6257EEC-3C03-0546-9ACD-4DCDB1819397}"/>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8325B40-CC4B-6445-8AA8-D6AA369D34A4}"/>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369C21-DFFB-4B46-A1A5-A3B9B2BD5D3D}"/>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4155E267-602E-DA43-8ADA-80A77E2F6BAA}"/>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EFCDA0-8E24-3F4E-9729-B109832A37F5}"/>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01B9D4C-4986-CE4F-AAC2-0B2B3DE03C87}"/>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D505A4-48AE-AC40-87FA-FC0E50F6B75A}"/>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F6A3959-23EF-B243-97DE-A3CBF9EE4626}"/>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extBox 7">
              <a:extLst>
                <a:ext uri="{FF2B5EF4-FFF2-40B4-BE49-F238E27FC236}">
                  <a16:creationId xmlns:a16="http://schemas.microsoft.com/office/drawing/2014/main" id="{D36FFD52-F70F-854D-8DC1-D1F09F5ACAD2}"/>
                </a:ext>
              </a:extLst>
            </p:cNvPr>
            <p:cNvSpPr txBox="1"/>
            <p:nvPr/>
          </p:nvSpPr>
          <p:spPr>
            <a:xfrm>
              <a:off x="6518030" y="3471011"/>
              <a:ext cx="1072730" cy="369332"/>
            </a:xfrm>
            <a:prstGeom prst="rect">
              <a:avLst/>
            </a:prstGeom>
            <a:noFill/>
          </p:spPr>
          <p:txBody>
            <a:bodyPr wrap="none" rtlCol="0">
              <a:spAutoFit/>
            </a:bodyPr>
            <a:lstStyle/>
            <a:p>
              <a:r>
                <a:rPr lang="en-US" dirty="0"/>
                <a:t>Cluster1</a:t>
              </a:r>
            </a:p>
          </p:txBody>
        </p:sp>
        <p:sp>
          <p:nvSpPr>
            <p:cNvPr id="9" name="TextBox 8">
              <a:extLst>
                <a:ext uri="{FF2B5EF4-FFF2-40B4-BE49-F238E27FC236}">
                  <a16:creationId xmlns:a16="http://schemas.microsoft.com/office/drawing/2014/main" id="{81858FD9-B27C-0C44-8B7A-44D908A27760}"/>
                </a:ext>
              </a:extLst>
            </p:cNvPr>
            <p:cNvSpPr txBox="1"/>
            <p:nvPr/>
          </p:nvSpPr>
          <p:spPr>
            <a:xfrm>
              <a:off x="7222749" y="1903899"/>
              <a:ext cx="1072730" cy="369332"/>
            </a:xfrm>
            <a:prstGeom prst="rect">
              <a:avLst/>
            </a:prstGeom>
            <a:noFill/>
          </p:spPr>
          <p:txBody>
            <a:bodyPr wrap="none" rtlCol="0">
              <a:spAutoFit/>
            </a:bodyPr>
            <a:lstStyle/>
            <a:p>
              <a:r>
                <a:rPr lang="en-US" dirty="0"/>
                <a:t>Cluster2</a:t>
              </a:r>
            </a:p>
          </p:txBody>
        </p:sp>
      </p:grpSp>
      <p:sp>
        <p:nvSpPr>
          <p:cNvPr id="2" name="Slide Number Placeholder 1">
            <a:extLst>
              <a:ext uri="{FF2B5EF4-FFF2-40B4-BE49-F238E27FC236}">
                <a16:creationId xmlns:a16="http://schemas.microsoft.com/office/drawing/2014/main" id="{5EE67E33-399B-7B39-A007-7E878FA935D4}"/>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9</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134853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content-based recommender system using user profile and course genres</a:t>
            </a:r>
          </a:p>
        </p:txBody>
      </p:sp>
      <p:sp>
        <p:nvSpPr>
          <p:cNvPr id="7" name="Content Placeholder 4">
            <a:extLst>
              <a:ext uri="{FF2B5EF4-FFF2-40B4-BE49-F238E27FC236}">
                <a16:creationId xmlns:a16="http://schemas.microsoft.com/office/drawing/2014/main" id="{DC036931-E29B-ACB1-423D-A4BCA2B40540}"/>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Starting by getting the user data then creating vectors for each profile after that selecting the unseen candidates, then we calculate the similarity scores, applying the </a:t>
            </a:r>
            <a:r>
              <a:rPr lang="en-US" sz="2000">
                <a:solidFill>
                  <a:schemeClr val="accent4">
                    <a:lumMod val="49000"/>
                  </a:schemeClr>
                </a:solidFill>
                <a:latin typeface="Abadi"/>
              </a:rPr>
              <a:t>recommendation threshold, finally getting the recommended scores.</a:t>
            </a:r>
            <a:endParaRPr lang="en-US" sz="2000" dirty="0">
              <a:solidFill>
                <a:schemeClr val="accent4">
                  <a:lumMod val="49000"/>
                </a:schemeClr>
              </a:solidFill>
              <a:latin typeface="Abadi"/>
            </a:endParaRPr>
          </a:p>
        </p:txBody>
      </p:sp>
      <p:pic>
        <p:nvPicPr>
          <p:cNvPr id="17" name="Picture 16">
            <a:extLst>
              <a:ext uri="{FF2B5EF4-FFF2-40B4-BE49-F238E27FC236}">
                <a16:creationId xmlns:a16="http://schemas.microsoft.com/office/drawing/2014/main" id="{4CA6DF4E-1C9B-FAC0-6CBE-FFFFBF3E5EE6}"/>
              </a:ext>
            </a:extLst>
          </p:cNvPr>
          <p:cNvPicPr>
            <a:picLocks noChangeAspect="1"/>
          </p:cNvPicPr>
          <p:nvPr/>
        </p:nvPicPr>
        <p:blipFill>
          <a:blip r:embed="rId2"/>
          <a:stretch>
            <a:fillRect/>
          </a:stretch>
        </p:blipFill>
        <p:spPr>
          <a:xfrm>
            <a:off x="1064712" y="3723468"/>
            <a:ext cx="10062576" cy="1446542"/>
          </a:xfrm>
          <a:prstGeom prst="rect">
            <a:avLst/>
          </a:prstGeom>
        </p:spPr>
      </p:pic>
      <p:sp>
        <p:nvSpPr>
          <p:cNvPr id="2" name="Slide Number Placeholder 1">
            <a:extLst>
              <a:ext uri="{FF2B5EF4-FFF2-40B4-BE49-F238E27FC236}">
                <a16:creationId xmlns:a16="http://schemas.microsoft.com/office/drawing/2014/main" id="{621E6831-38B8-EEAB-3E4E-460997597269}"/>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10</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15765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Evaluation results of user profile-based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633594" y="2481129"/>
            <a:ext cx="4720206" cy="8494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000">
                <a:solidFill>
                  <a:schemeClr val="accent4">
                    <a:lumMod val="49000"/>
                  </a:schemeClr>
                </a:solidFill>
                <a:latin typeface="Abadi"/>
              </a:rPr>
              <a:t>- the top-10 commonly recommended courses across all users</a:t>
            </a:r>
            <a:endParaRPr lang="en-US" sz="2000" dirty="0">
              <a:solidFill>
                <a:schemeClr val="accent4">
                  <a:lumMod val="49000"/>
                </a:schemeClr>
              </a:solidFill>
              <a:latin typeface="Abadi"/>
            </a:endParaRP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2481129"/>
            <a:ext cx="472020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r>
              <a:rPr lang="en-US" sz="2000">
                <a:solidFill>
                  <a:schemeClr val="accent4">
                    <a:lumMod val="49000"/>
                  </a:schemeClr>
                </a:solidFill>
                <a:latin typeface="Abadi"/>
              </a:rPr>
              <a:t>On average, 60 </a:t>
            </a:r>
            <a:r>
              <a:rPr lang="en-US" sz="2000" dirty="0">
                <a:solidFill>
                  <a:schemeClr val="accent4">
                    <a:lumMod val="49000"/>
                  </a:schemeClr>
                </a:solidFill>
                <a:latin typeface="Abadi"/>
              </a:rPr>
              <a:t>courses have been </a:t>
            </a:r>
            <a:r>
              <a:rPr lang="en-US" sz="2000">
                <a:solidFill>
                  <a:schemeClr val="accent4">
                    <a:lumMod val="49000"/>
                  </a:schemeClr>
                </a:solidFill>
                <a:latin typeface="Abadi"/>
              </a:rPr>
              <a:t>recommended per user.</a:t>
            </a:r>
            <a:endParaRPr lang="en-US" sz="2000" dirty="0">
              <a:solidFill>
                <a:schemeClr val="accent4">
                  <a:lumMod val="49000"/>
                </a:schemeClr>
              </a:solidFill>
              <a:latin typeface="Abadi"/>
            </a:endParaRP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690688"/>
            <a:ext cx="10419966" cy="619375"/>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000">
                <a:solidFill>
                  <a:schemeClr val="accent4">
                    <a:lumMod val="49000"/>
                  </a:schemeClr>
                </a:solidFill>
                <a:latin typeface="Abadi"/>
              </a:rPr>
              <a:t>Recommendation</a:t>
            </a:r>
            <a:r>
              <a:rPr lang="en-US" sz="2000" dirty="0">
                <a:solidFill>
                  <a:schemeClr val="accent4">
                    <a:lumMod val="49000"/>
                  </a:schemeClr>
                </a:solidFill>
                <a:latin typeface="Abadi"/>
              </a:rPr>
              <a:t> Score Threshold: 10.0</a:t>
            </a:r>
          </a:p>
        </p:txBody>
      </p:sp>
      <p:pic>
        <p:nvPicPr>
          <p:cNvPr id="2" name="Picture 1" descr="A screenshot of a computer&#10;&#10;AI-generated content may be incorrect.">
            <a:extLst>
              <a:ext uri="{FF2B5EF4-FFF2-40B4-BE49-F238E27FC236}">
                <a16:creationId xmlns:a16="http://schemas.microsoft.com/office/drawing/2014/main" id="{A5265AAB-6A2E-094A-7AA7-5019E2AC5227}"/>
              </a:ext>
            </a:extLst>
          </p:cNvPr>
          <p:cNvPicPr>
            <a:picLocks noChangeAspect="1"/>
          </p:cNvPicPr>
          <p:nvPr/>
        </p:nvPicPr>
        <p:blipFill>
          <a:blip r:embed="rId2"/>
          <a:stretch>
            <a:fillRect/>
          </a:stretch>
        </p:blipFill>
        <p:spPr>
          <a:xfrm>
            <a:off x="7410450" y="3486150"/>
            <a:ext cx="3162300" cy="3009900"/>
          </a:xfrm>
          <a:prstGeom prst="rect">
            <a:avLst/>
          </a:prstGeom>
        </p:spPr>
      </p:pic>
      <p:sp>
        <p:nvSpPr>
          <p:cNvPr id="3" name="Slide Number Placeholder 2">
            <a:extLst>
              <a:ext uri="{FF2B5EF4-FFF2-40B4-BE49-F238E27FC236}">
                <a16:creationId xmlns:a16="http://schemas.microsoft.com/office/drawing/2014/main" id="{BC36999B-7986-E72C-8147-623524C4D84B}"/>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11</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024823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content-based recommender system using course similarity</a:t>
            </a:r>
          </a:p>
        </p:txBody>
      </p:sp>
      <p:sp>
        <p:nvSpPr>
          <p:cNvPr id="7" name="Content Placeholder 4">
            <a:extLst>
              <a:ext uri="{FF2B5EF4-FFF2-40B4-BE49-F238E27FC236}">
                <a16:creationId xmlns:a16="http://schemas.microsoft.com/office/drawing/2014/main" id="{1292DC16-4D58-59E1-F17B-E4836473EC03}"/>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Starting by getting the course similarity Matrix then visualizing heatmap,  select threshold, after that for </a:t>
            </a:r>
            <a:r>
              <a:rPr lang="en-US" sz="2000">
                <a:solidFill>
                  <a:schemeClr val="accent4">
                    <a:lumMod val="49000"/>
                  </a:schemeClr>
                </a:solidFill>
                <a:latin typeface="Abadi"/>
              </a:rPr>
              <a:t>each user selecting the unseen candidates, then we calculate the similarity </a:t>
            </a:r>
            <a:r>
              <a:rPr lang="en-US" sz="2000" dirty="0">
                <a:solidFill>
                  <a:schemeClr val="accent4">
                    <a:lumMod val="49000"/>
                  </a:schemeClr>
                </a:solidFill>
                <a:latin typeface="Abadi"/>
              </a:rPr>
              <a:t>scores, applying the recommendation threshold, finally getting the recommended scores.</a:t>
            </a:r>
          </a:p>
        </p:txBody>
      </p:sp>
      <p:pic>
        <p:nvPicPr>
          <p:cNvPr id="8" name="Picture 7" descr="A black screen with white text&#10;&#10;AI-generated content may be incorrect.">
            <a:extLst>
              <a:ext uri="{FF2B5EF4-FFF2-40B4-BE49-F238E27FC236}">
                <a16:creationId xmlns:a16="http://schemas.microsoft.com/office/drawing/2014/main" id="{C2082A55-0DB4-549A-409F-D76FEC579AE7}"/>
              </a:ext>
            </a:extLst>
          </p:cNvPr>
          <p:cNvPicPr>
            <a:picLocks noChangeAspect="1"/>
          </p:cNvPicPr>
          <p:nvPr/>
        </p:nvPicPr>
        <p:blipFill>
          <a:blip r:embed="rId2"/>
          <a:stretch>
            <a:fillRect/>
          </a:stretch>
        </p:blipFill>
        <p:spPr>
          <a:xfrm>
            <a:off x="923925" y="3965631"/>
            <a:ext cx="10334625" cy="1212739"/>
          </a:xfrm>
          <a:prstGeom prst="rect">
            <a:avLst/>
          </a:prstGeom>
        </p:spPr>
      </p:pic>
      <p:sp>
        <p:nvSpPr>
          <p:cNvPr id="2" name="Slide Number Placeholder 1">
            <a:extLst>
              <a:ext uri="{FF2B5EF4-FFF2-40B4-BE49-F238E27FC236}">
                <a16:creationId xmlns:a16="http://schemas.microsoft.com/office/drawing/2014/main" id="{590A6B68-00E8-C0FA-8043-6C15BBE528EE}"/>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12</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153156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Evaluation results of course similarity based recommender system</a:t>
            </a:r>
          </a:p>
        </p:txBody>
      </p:sp>
      <p:sp>
        <p:nvSpPr>
          <p:cNvPr id="13" name="Content Placeholder 4">
            <a:extLst>
              <a:ext uri="{FF2B5EF4-FFF2-40B4-BE49-F238E27FC236}">
                <a16:creationId xmlns:a16="http://schemas.microsoft.com/office/drawing/2014/main" id="{C1620855-921C-30D1-4958-09EAC8221A4D}"/>
              </a:ext>
            </a:extLst>
          </p:cNvPr>
          <p:cNvSpPr txBox="1">
            <a:spLocks/>
          </p:cNvSpPr>
          <p:nvPr/>
        </p:nvSpPr>
        <p:spPr>
          <a:xfrm>
            <a:off x="6633594" y="2481129"/>
            <a:ext cx="4720206" cy="8494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000">
                <a:solidFill>
                  <a:schemeClr val="accent4">
                    <a:lumMod val="49000"/>
                  </a:schemeClr>
                </a:solidFill>
                <a:latin typeface="Abadi"/>
              </a:rPr>
              <a:t>- the top-10 commonly recommended courses across all users</a:t>
            </a:r>
            <a:endParaRPr lang="en-US" sz="2000" dirty="0">
              <a:solidFill>
                <a:schemeClr val="accent4">
                  <a:lumMod val="49000"/>
                </a:schemeClr>
              </a:solidFill>
              <a:latin typeface="Abadi"/>
            </a:endParaRPr>
          </a:p>
        </p:txBody>
      </p:sp>
      <p:sp>
        <p:nvSpPr>
          <p:cNvPr id="15" name="Content Placeholder 4">
            <a:extLst>
              <a:ext uri="{FF2B5EF4-FFF2-40B4-BE49-F238E27FC236}">
                <a16:creationId xmlns:a16="http://schemas.microsoft.com/office/drawing/2014/main" id="{F0583C61-BBCB-E18C-2975-8D12E73908F0}"/>
              </a:ext>
            </a:extLst>
          </p:cNvPr>
          <p:cNvSpPr txBox="1">
            <a:spLocks/>
          </p:cNvSpPr>
          <p:nvPr/>
        </p:nvSpPr>
        <p:spPr>
          <a:xfrm>
            <a:off x="933834" y="2481129"/>
            <a:ext cx="472020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r>
              <a:rPr lang="en-US" sz="2000">
                <a:solidFill>
                  <a:schemeClr val="accent4">
                    <a:lumMod val="49000"/>
                  </a:schemeClr>
                </a:solidFill>
                <a:latin typeface="Abadi"/>
              </a:rPr>
              <a:t>On average, 9.7 courses have been recommended per user.</a:t>
            </a:r>
            <a:endParaRPr lang="en-US" sz="2000" dirty="0">
              <a:solidFill>
                <a:schemeClr val="accent4">
                  <a:lumMod val="49000"/>
                </a:schemeClr>
              </a:solidFill>
              <a:latin typeface="Abadi"/>
            </a:endParaRPr>
          </a:p>
        </p:txBody>
      </p:sp>
      <p:sp>
        <p:nvSpPr>
          <p:cNvPr id="17" name="Content Placeholder 4">
            <a:extLst>
              <a:ext uri="{FF2B5EF4-FFF2-40B4-BE49-F238E27FC236}">
                <a16:creationId xmlns:a16="http://schemas.microsoft.com/office/drawing/2014/main" id="{9159E55D-EE6B-E816-BB8A-896D7ED27280}"/>
              </a:ext>
            </a:extLst>
          </p:cNvPr>
          <p:cNvSpPr txBox="1">
            <a:spLocks/>
          </p:cNvSpPr>
          <p:nvPr/>
        </p:nvSpPr>
        <p:spPr>
          <a:xfrm>
            <a:off x="933834" y="1690688"/>
            <a:ext cx="10419966" cy="619375"/>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000">
                <a:solidFill>
                  <a:schemeClr val="accent4">
                    <a:lumMod val="49000"/>
                  </a:schemeClr>
                </a:solidFill>
                <a:latin typeface="Abadi"/>
              </a:rPr>
              <a:t>Recommendation Score Threshold: 0.6</a:t>
            </a:r>
            <a:endParaRPr lang="en-US" sz="2000" dirty="0">
              <a:solidFill>
                <a:schemeClr val="accent4">
                  <a:lumMod val="49000"/>
                </a:schemeClr>
              </a:solidFill>
              <a:latin typeface="Abadi"/>
            </a:endParaRPr>
          </a:p>
        </p:txBody>
      </p:sp>
      <p:pic>
        <p:nvPicPr>
          <p:cNvPr id="18" name="Picture 17" descr="A screenshot of a computer&#10;&#10;AI-generated content may be incorrect.">
            <a:extLst>
              <a:ext uri="{FF2B5EF4-FFF2-40B4-BE49-F238E27FC236}">
                <a16:creationId xmlns:a16="http://schemas.microsoft.com/office/drawing/2014/main" id="{61E5DCEB-839D-B236-89AF-5EC87BE3ED92}"/>
              </a:ext>
            </a:extLst>
          </p:cNvPr>
          <p:cNvPicPr>
            <a:picLocks noChangeAspect="1"/>
          </p:cNvPicPr>
          <p:nvPr/>
        </p:nvPicPr>
        <p:blipFill>
          <a:blip r:embed="rId2"/>
          <a:stretch>
            <a:fillRect/>
          </a:stretch>
        </p:blipFill>
        <p:spPr>
          <a:xfrm>
            <a:off x="7469101" y="3599145"/>
            <a:ext cx="3057525" cy="2895600"/>
          </a:xfrm>
          <a:prstGeom prst="rect">
            <a:avLst/>
          </a:prstGeom>
        </p:spPr>
      </p:pic>
      <p:sp>
        <p:nvSpPr>
          <p:cNvPr id="2" name="Slide Number Placeholder 1">
            <a:extLst>
              <a:ext uri="{FF2B5EF4-FFF2-40B4-BE49-F238E27FC236}">
                <a16:creationId xmlns:a16="http://schemas.microsoft.com/office/drawing/2014/main" id="{492A52B1-C4EE-021B-3157-FD1191FCFA10}"/>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13</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67638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clustering-based recommender system</a:t>
            </a:r>
          </a:p>
        </p:txBody>
      </p:sp>
      <p:sp>
        <p:nvSpPr>
          <p:cNvPr id="7" name="Content Placeholder 4">
            <a:extLst>
              <a:ext uri="{FF2B5EF4-FFF2-40B4-BE49-F238E27FC236}">
                <a16:creationId xmlns:a16="http://schemas.microsoft.com/office/drawing/2014/main" id="{BA0E1C5B-4583-3EA2-1768-A234537D88E9}"/>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ea typeface="+mn-lt"/>
                <a:cs typeface="+mn-lt"/>
              </a:rPr>
              <a:t>The flow starts by preprocessing user data through scaling and dimensionality reduction (PCA), followed by selecting the optimal number of clusters using the elbow method and training a K-Means model. Users are then grouped into clusters, where similar users are identified based on cluster membership. Finally, recommendations are generated by ranking unseen courses according to their popularity within each user’s cluster.</a:t>
            </a:r>
            <a:endParaRPr lang="en-US" dirty="0">
              <a:solidFill>
                <a:schemeClr val="accent4">
                  <a:lumMod val="49000"/>
                </a:schemeClr>
              </a:solidFill>
              <a:ea typeface="+mn-lt"/>
              <a:cs typeface="+mn-lt"/>
            </a:endParaRPr>
          </a:p>
        </p:txBody>
      </p:sp>
      <p:pic>
        <p:nvPicPr>
          <p:cNvPr id="8" name="Picture 7" descr="A black screen with white text&#10;&#10;AI-generated content may be incorrect.">
            <a:extLst>
              <a:ext uri="{FF2B5EF4-FFF2-40B4-BE49-F238E27FC236}">
                <a16:creationId xmlns:a16="http://schemas.microsoft.com/office/drawing/2014/main" id="{FAD1819F-905B-0015-E592-C46A9CFDC3ED}"/>
              </a:ext>
            </a:extLst>
          </p:cNvPr>
          <p:cNvPicPr>
            <a:picLocks noChangeAspect="1"/>
          </p:cNvPicPr>
          <p:nvPr/>
        </p:nvPicPr>
        <p:blipFill>
          <a:blip r:embed="rId2"/>
          <a:stretch>
            <a:fillRect/>
          </a:stretch>
        </p:blipFill>
        <p:spPr>
          <a:xfrm>
            <a:off x="990600" y="3726708"/>
            <a:ext cx="10210800" cy="1195283"/>
          </a:xfrm>
          <a:prstGeom prst="rect">
            <a:avLst/>
          </a:prstGeom>
        </p:spPr>
      </p:pic>
      <p:sp>
        <p:nvSpPr>
          <p:cNvPr id="2" name="Slide Number Placeholder 1">
            <a:extLst>
              <a:ext uri="{FF2B5EF4-FFF2-40B4-BE49-F238E27FC236}">
                <a16:creationId xmlns:a16="http://schemas.microsoft.com/office/drawing/2014/main" id="{D47FC0C7-D6B5-2E34-80E9-80668C4C1A84}"/>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14</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552581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Evaluation results of clustering-based recommender system</a:t>
            </a:r>
          </a:p>
        </p:txBody>
      </p:sp>
      <p:sp>
        <p:nvSpPr>
          <p:cNvPr id="3" name="Content Placeholder 4">
            <a:extLst>
              <a:ext uri="{FF2B5EF4-FFF2-40B4-BE49-F238E27FC236}">
                <a16:creationId xmlns:a16="http://schemas.microsoft.com/office/drawing/2014/main" id="{53CC9E07-D686-1FB7-2137-33B799B0EDB4}"/>
              </a:ext>
            </a:extLst>
          </p:cNvPr>
          <p:cNvSpPr txBox="1">
            <a:spLocks/>
          </p:cNvSpPr>
          <p:nvPr/>
        </p:nvSpPr>
        <p:spPr>
          <a:xfrm>
            <a:off x="6633594" y="2481129"/>
            <a:ext cx="4720206" cy="8494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000">
                <a:solidFill>
                  <a:schemeClr val="accent4">
                    <a:lumMod val="49000"/>
                  </a:schemeClr>
                </a:solidFill>
                <a:latin typeface="Abadi"/>
              </a:rPr>
              <a:t>- the top-10 commonly recommended courses across all users</a:t>
            </a:r>
            <a:endParaRPr lang="en-US" sz="2000" dirty="0">
              <a:solidFill>
                <a:schemeClr val="accent4">
                  <a:lumMod val="49000"/>
                </a:schemeClr>
              </a:solidFill>
              <a:latin typeface="Abadi"/>
            </a:endParaRPr>
          </a:p>
        </p:txBody>
      </p:sp>
      <p:sp>
        <p:nvSpPr>
          <p:cNvPr id="8" name="Content Placeholder 4">
            <a:extLst>
              <a:ext uri="{FF2B5EF4-FFF2-40B4-BE49-F238E27FC236}">
                <a16:creationId xmlns:a16="http://schemas.microsoft.com/office/drawing/2014/main" id="{A498940F-99FE-F0F4-9986-D308C7DEDBF5}"/>
              </a:ext>
            </a:extLst>
          </p:cNvPr>
          <p:cNvSpPr txBox="1">
            <a:spLocks/>
          </p:cNvSpPr>
          <p:nvPr/>
        </p:nvSpPr>
        <p:spPr>
          <a:xfrm>
            <a:off x="933834" y="2481129"/>
            <a:ext cx="472020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r>
              <a:rPr lang="en-US" sz="2000">
                <a:solidFill>
                  <a:schemeClr val="accent4">
                    <a:lumMod val="49000"/>
                  </a:schemeClr>
                </a:solidFill>
                <a:latin typeface="Abadi"/>
              </a:rPr>
              <a:t>On average, </a:t>
            </a:r>
            <a:r>
              <a:rPr lang="en-US" sz="2000">
                <a:solidFill>
                  <a:schemeClr val="accent4">
                    <a:lumMod val="49000"/>
                  </a:schemeClr>
                </a:solidFill>
                <a:ea typeface="+mn-lt"/>
                <a:cs typeface="+mn-lt"/>
              </a:rPr>
              <a:t>each user receives approximately 4.89 new (unseen) course recommendations out of the top 5 recommendations.</a:t>
            </a:r>
          </a:p>
        </p:txBody>
      </p:sp>
      <p:sp>
        <p:nvSpPr>
          <p:cNvPr id="11" name="Content Placeholder 4">
            <a:extLst>
              <a:ext uri="{FF2B5EF4-FFF2-40B4-BE49-F238E27FC236}">
                <a16:creationId xmlns:a16="http://schemas.microsoft.com/office/drawing/2014/main" id="{260C4ABB-3F64-66D9-9A16-CDF24BE87130}"/>
              </a:ext>
            </a:extLst>
          </p:cNvPr>
          <p:cNvSpPr txBox="1">
            <a:spLocks/>
          </p:cNvSpPr>
          <p:nvPr/>
        </p:nvSpPr>
        <p:spPr>
          <a:xfrm>
            <a:off x="933834" y="1690688"/>
            <a:ext cx="10419966" cy="619375"/>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000" dirty="0">
                <a:solidFill>
                  <a:schemeClr val="accent4">
                    <a:lumMod val="49000"/>
                  </a:schemeClr>
                </a:solidFill>
                <a:latin typeface="Abadi"/>
              </a:rPr>
              <a:t>PCA variation: 0.95, </a:t>
            </a:r>
            <a:r>
              <a:rPr lang="en-US" sz="2000" dirty="0" err="1">
                <a:solidFill>
                  <a:schemeClr val="accent4">
                    <a:lumMod val="49000"/>
                  </a:schemeClr>
                </a:solidFill>
                <a:latin typeface="Abadi"/>
              </a:rPr>
              <a:t>KMeans</a:t>
            </a:r>
            <a:r>
              <a:rPr lang="en-US" sz="2000" dirty="0">
                <a:solidFill>
                  <a:schemeClr val="accent4">
                    <a:lumMod val="49000"/>
                  </a:schemeClr>
                </a:solidFill>
                <a:latin typeface="Abadi"/>
              </a:rPr>
              <a:t> </a:t>
            </a:r>
            <a:r>
              <a:rPr lang="en-US" sz="2000" dirty="0" err="1">
                <a:solidFill>
                  <a:schemeClr val="accent4">
                    <a:lumMod val="49000"/>
                  </a:schemeClr>
                </a:solidFill>
                <a:latin typeface="Abadi"/>
              </a:rPr>
              <a:t>n_init</a:t>
            </a:r>
            <a:r>
              <a:rPr lang="en-US" sz="2000" dirty="0">
                <a:solidFill>
                  <a:schemeClr val="accent4">
                    <a:lumMod val="49000"/>
                  </a:schemeClr>
                </a:solidFill>
                <a:latin typeface="Abadi"/>
              </a:rPr>
              <a:t>: 10, </a:t>
            </a:r>
            <a:r>
              <a:rPr lang="en-US" sz="2000" dirty="0" err="1">
                <a:solidFill>
                  <a:schemeClr val="accent4">
                    <a:lumMod val="49000"/>
                  </a:schemeClr>
                </a:solidFill>
                <a:latin typeface="Abadi"/>
              </a:rPr>
              <a:t>n_clusters</a:t>
            </a:r>
            <a:r>
              <a:rPr lang="en-US" sz="2000" dirty="0">
                <a:solidFill>
                  <a:schemeClr val="accent4">
                    <a:lumMod val="49000"/>
                  </a:schemeClr>
                </a:solidFill>
                <a:latin typeface="Abadi"/>
              </a:rPr>
              <a:t>: 9</a:t>
            </a:r>
          </a:p>
        </p:txBody>
      </p:sp>
      <p:pic>
        <p:nvPicPr>
          <p:cNvPr id="14" name="Picture 13" descr="A screenshot of a computer&#10;&#10;AI-generated content may be incorrect.">
            <a:extLst>
              <a:ext uri="{FF2B5EF4-FFF2-40B4-BE49-F238E27FC236}">
                <a16:creationId xmlns:a16="http://schemas.microsoft.com/office/drawing/2014/main" id="{161B7F85-29AD-D6FE-2982-75F5AE93F0E5}"/>
              </a:ext>
            </a:extLst>
          </p:cNvPr>
          <p:cNvPicPr>
            <a:picLocks noChangeAspect="1"/>
          </p:cNvPicPr>
          <p:nvPr/>
        </p:nvPicPr>
        <p:blipFill>
          <a:blip r:embed="rId2"/>
          <a:stretch>
            <a:fillRect/>
          </a:stretch>
        </p:blipFill>
        <p:spPr>
          <a:xfrm>
            <a:off x="7734300" y="3433763"/>
            <a:ext cx="2524125" cy="3067050"/>
          </a:xfrm>
          <a:prstGeom prst="rect">
            <a:avLst/>
          </a:prstGeom>
        </p:spPr>
      </p:pic>
      <p:sp>
        <p:nvSpPr>
          <p:cNvPr id="2" name="Slide Number Placeholder 1">
            <a:extLst>
              <a:ext uri="{FF2B5EF4-FFF2-40B4-BE49-F238E27FC236}">
                <a16:creationId xmlns:a16="http://schemas.microsoft.com/office/drawing/2014/main" id="{A566AB3C-387E-4286-5560-DAAF45D12BFD}"/>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15</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11599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Collaborative-filtering Recommender System using Supervised Learning</a:t>
            </a:r>
            <a:endParaRPr lang="en-US" dirty="0"/>
          </a:p>
        </p:txBody>
      </p:sp>
      <p:pic>
        <p:nvPicPr>
          <p:cNvPr id="43" name="Picture 2" descr="Support-vector machine - Wikipedia">
            <a:extLst>
              <a:ext uri="{FF2B5EF4-FFF2-40B4-BE49-F238E27FC236}">
                <a16:creationId xmlns:a16="http://schemas.microsoft.com/office/drawing/2014/main" id="{CA660427-DE61-394E-804E-5C0107163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5246" y="5432400"/>
            <a:ext cx="1470757" cy="14256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E4861666-5947-1F15-3CA6-F8DD74255694}"/>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16</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49857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KNN based recommender system</a:t>
            </a:r>
          </a:p>
        </p:txBody>
      </p:sp>
      <p:pic>
        <p:nvPicPr>
          <p:cNvPr id="2" name="Picture 1" descr="A black and white background with white text&#10;&#10;AI-generated content may be incorrect.">
            <a:extLst>
              <a:ext uri="{FF2B5EF4-FFF2-40B4-BE49-F238E27FC236}">
                <a16:creationId xmlns:a16="http://schemas.microsoft.com/office/drawing/2014/main" id="{A8A3D18F-04B2-6781-D106-E0EC099839B0}"/>
              </a:ext>
            </a:extLst>
          </p:cNvPr>
          <p:cNvPicPr>
            <a:picLocks noChangeAspect="1"/>
          </p:cNvPicPr>
          <p:nvPr/>
        </p:nvPicPr>
        <p:blipFill>
          <a:blip r:embed="rId2"/>
          <a:stretch>
            <a:fillRect/>
          </a:stretch>
        </p:blipFill>
        <p:spPr>
          <a:xfrm>
            <a:off x="1143000" y="4052770"/>
            <a:ext cx="9896475" cy="1124185"/>
          </a:xfrm>
          <a:prstGeom prst="rect">
            <a:avLst/>
          </a:prstGeom>
        </p:spPr>
      </p:pic>
      <p:sp>
        <p:nvSpPr>
          <p:cNvPr id="8" name="Content Placeholder 4">
            <a:extLst>
              <a:ext uri="{FF2B5EF4-FFF2-40B4-BE49-F238E27FC236}">
                <a16:creationId xmlns:a16="http://schemas.microsoft.com/office/drawing/2014/main" id="{4EE5498B-C1B4-4D78-5E8B-B3939FC4BC6A}"/>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accent4">
                    <a:lumMod val="49000"/>
                  </a:schemeClr>
                </a:solidFill>
                <a:ea typeface="+mn-lt"/>
                <a:cs typeface="+mn-lt"/>
              </a:rPr>
              <a:t>This chart start </a:t>
            </a:r>
            <a:r>
              <a:rPr lang="en-US" sz="2000" dirty="0">
                <a:solidFill>
                  <a:schemeClr val="accent4">
                    <a:lumMod val="49000"/>
                  </a:schemeClr>
                </a:solidFill>
                <a:ea typeface="+mn-lt"/>
                <a:cs typeface="+mn-lt"/>
              </a:rPr>
              <a:t>by transforms rating data into a user–item matrix, then uses cosine similarity to find similar users and predict ratings based on their preferences. The model’s performance is evaluated using RMSE by comparing predicted ratings with actual values.</a:t>
            </a:r>
            <a:endParaRPr lang="en-US" dirty="0">
              <a:solidFill>
                <a:schemeClr val="accent4">
                  <a:lumMod val="49000"/>
                </a:schemeClr>
              </a:solidFill>
              <a:ea typeface="+mn-lt"/>
              <a:cs typeface="+mn-lt"/>
            </a:endParaRPr>
          </a:p>
          <a:p>
            <a:pPr>
              <a:buFont typeface="Calibri" panose="020B0604020202020204" pitchFamily="34" charset="0"/>
              <a:buChar char="-"/>
            </a:pPr>
            <a:endParaRPr lang="en-US" sz="2000" dirty="0">
              <a:solidFill>
                <a:schemeClr val="accent4">
                  <a:lumMod val="49000"/>
                </a:schemeClr>
              </a:solidFill>
              <a:ea typeface="+mn-lt"/>
              <a:cs typeface="+mn-lt"/>
            </a:endParaRPr>
          </a:p>
        </p:txBody>
      </p:sp>
      <p:sp>
        <p:nvSpPr>
          <p:cNvPr id="11" name="Slide Number Placeholder 10">
            <a:extLst>
              <a:ext uri="{FF2B5EF4-FFF2-40B4-BE49-F238E27FC236}">
                <a16:creationId xmlns:a16="http://schemas.microsoft.com/office/drawing/2014/main" id="{1E46EF5A-A584-47B4-25AE-62EAD5A55807}"/>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17</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743261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NMF based recommender system</a:t>
            </a:r>
          </a:p>
        </p:txBody>
      </p:sp>
      <p:pic>
        <p:nvPicPr>
          <p:cNvPr id="2" name="Picture 1" descr="A black background with white text&#10;&#10;AI-generated content may be incorrect.">
            <a:extLst>
              <a:ext uri="{FF2B5EF4-FFF2-40B4-BE49-F238E27FC236}">
                <a16:creationId xmlns:a16="http://schemas.microsoft.com/office/drawing/2014/main" id="{86070421-B310-7C31-58E2-F8A158AA44FD}"/>
              </a:ext>
            </a:extLst>
          </p:cNvPr>
          <p:cNvPicPr>
            <a:picLocks noChangeAspect="1"/>
          </p:cNvPicPr>
          <p:nvPr/>
        </p:nvPicPr>
        <p:blipFill>
          <a:blip r:embed="rId2"/>
          <a:stretch>
            <a:fillRect/>
          </a:stretch>
        </p:blipFill>
        <p:spPr>
          <a:xfrm>
            <a:off x="1173532" y="3820896"/>
            <a:ext cx="9844936" cy="1460457"/>
          </a:xfrm>
          <a:prstGeom prst="rect">
            <a:avLst/>
          </a:prstGeom>
        </p:spPr>
      </p:pic>
      <p:sp>
        <p:nvSpPr>
          <p:cNvPr id="8" name="Content Placeholder 4">
            <a:extLst>
              <a:ext uri="{FF2B5EF4-FFF2-40B4-BE49-F238E27FC236}">
                <a16:creationId xmlns:a16="http://schemas.microsoft.com/office/drawing/2014/main" id="{92E581A9-618E-06D7-60E3-BE2FA6D24806}"/>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accent4">
                    <a:lumMod val="49000"/>
                  </a:schemeClr>
                </a:solidFill>
                <a:ea typeface="+mn-lt"/>
                <a:cs typeface="+mn-lt"/>
              </a:rPr>
              <a:t>This flowchart shows a matrix factorization recommender system that learns user and item latent features through training. It predicts ratings using the dot product of learned vectors and evaluates performance using RMSE.</a:t>
            </a:r>
            <a:endParaRPr lang="en-US">
              <a:solidFill>
                <a:schemeClr val="accent4">
                  <a:lumMod val="49000"/>
                </a:schemeClr>
              </a:solidFill>
              <a:ea typeface="+mn-lt"/>
              <a:cs typeface="+mn-lt"/>
            </a:endParaRPr>
          </a:p>
          <a:p>
            <a:pPr>
              <a:buFont typeface="Calibri" panose="020B0604020202020204" pitchFamily="34" charset="0"/>
              <a:buChar char="-"/>
            </a:pPr>
            <a:endParaRPr lang="en-US" sz="2000" dirty="0">
              <a:solidFill>
                <a:schemeClr val="accent4">
                  <a:lumMod val="49000"/>
                </a:schemeClr>
              </a:solidFill>
              <a:ea typeface="+mn-lt"/>
              <a:cs typeface="+mn-lt"/>
            </a:endParaRPr>
          </a:p>
        </p:txBody>
      </p:sp>
      <p:sp>
        <p:nvSpPr>
          <p:cNvPr id="11" name="Slide Number Placeholder 10">
            <a:extLst>
              <a:ext uri="{FF2B5EF4-FFF2-40B4-BE49-F238E27FC236}">
                <a16:creationId xmlns:a16="http://schemas.microsoft.com/office/drawing/2014/main" id="{14782217-11E8-B095-06E1-1534DB6EE266}"/>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18</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117593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Neural Network Embedding based recommender system</a:t>
            </a:r>
          </a:p>
        </p:txBody>
      </p:sp>
      <p:sp>
        <p:nvSpPr>
          <p:cNvPr id="7" name="Content Placeholder 4">
            <a:extLst>
              <a:ext uri="{FF2B5EF4-FFF2-40B4-BE49-F238E27FC236}">
                <a16:creationId xmlns:a16="http://schemas.microsoft.com/office/drawing/2014/main" id="{4B00BCE7-C779-537B-215D-D5387F52486D}"/>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accent4">
                    <a:lumMod val="49000"/>
                  </a:schemeClr>
                </a:solidFill>
                <a:ea typeface="+mn-lt"/>
                <a:cs typeface="+mn-lt"/>
              </a:rPr>
              <a:t>This flowchart shows an embedding-based recommender system built with </a:t>
            </a:r>
            <a:r>
              <a:rPr lang="en-US" sz="2000" dirty="0" err="1">
                <a:solidFill>
                  <a:schemeClr val="accent4">
                    <a:lumMod val="49000"/>
                  </a:schemeClr>
                </a:solidFill>
                <a:ea typeface="+mn-lt"/>
                <a:cs typeface="+mn-lt"/>
              </a:rPr>
              <a:t>PyTorch</a:t>
            </a:r>
            <a:r>
              <a:rPr lang="en-US" sz="2000" dirty="0">
                <a:solidFill>
                  <a:schemeClr val="accent4">
                    <a:lumMod val="49000"/>
                  </a:schemeClr>
                </a:solidFill>
                <a:ea typeface="+mn-lt"/>
                <a:cs typeface="+mn-lt"/>
              </a:rPr>
              <a:t>. It encodes users and items, learns their latent representations through training, and predicts ratings using embeddings and bias terms. The model is evaluated on unseen data using RMSE.</a:t>
            </a:r>
            <a:endParaRPr lang="en-US" dirty="0">
              <a:solidFill>
                <a:schemeClr val="accent4">
                  <a:lumMod val="49000"/>
                </a:schemeClr>
              </a:solidFill>
              <a:ea typeface="+mn-lt"/>
              <a:cs typeface="+mn-lt"/>
            </a:endParaRPr>
          </a:p>
        </p:txBody>
      </p:sp>
      <p:pic>
        <p:nvPicPr>
          <p:cNvPr id="8" name="Picture 7" descr="A screen shot of a computer&#10;&#10;AI-generated content may be incorrect.">
            <a:extLst>
              <a:ext uri="{FF2B5EF4-FFF2-40B4-BE49-F238E27FC236}">
                <a16:creationId xmlns:a16="http://schemas.microsoft.com/office/drawing/2014/main" id="{9753E44D-BBD1-F5B2-A45E-CA9EC46048FA}"/>
              </a:ext>
            </a:extLst>
          </p:cNvPr>
          <p:cNvPicPr>
            <a:picLocks noChangeAspect="1"/>
          </p:cNvPicPr>
          <p:nvPr/>
        </p:nvPicPr>
        <p:blipFill>
          <a:blip r:embed="rId2"/>
          <a:stretch>
            <a:fillRect/>
          </a:stretch>
        </p:blipFill>
        <p:spPr>
          <a:xfrm>
            <a:off x="1253059" y="4029662"/>
            <a:ext cx="9696320" cy="1303882"/>
          </a:xfrm>
          <a:prstGeom prst="rect">
            <a:avLst/>
          </a:prstGeom>
        </p:spPr>
      </p:pic>
      <p:sp>
        <p:nvSpPr>
          <p:cNvPr id="11" name="Slide Number Placeholder 10">
            <a:extLst>
              <a:ext uri="{FF2B5EF4-FFF2-40B4-BE49-F238E27FC236}">
                <a16:creationId xmlns:a16="http://schemas.microsoft.com/office/drawing/2014/main" id="{BD1D96F1-EB9D-ACAE-3151-251F87C94763}"/>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19</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181004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3">
            <a:extLst>
              <a:ext uri="{FF2B5EF4-FFF2-40B4-BE49-F238E27FC236}">
                <a16:creationId xmlns:a16="http://schemas.microsoft.com/office/drawing/2014/main" id="{15780924-759D-E551-1EAE-671A1F5A864C}"/>
              </a:ext>
            </a:extLst>
          </p:cNvPr>
          <p:cNvSpPr>
            <a:spLocks noGrp="1"/>
          </p:cNvSpPr>
          <p:nvPr>
            <p:ph type="title"/>
          </p:nvPr>
        </p:nvSpPr>
        <p:spPr>
          <a:xfrm>
            <a:off x="838200" y="365125"/>
            <a:ext cx="10515600" cy="1325563"/>
          </a:xfrm>
        </p:spPr>
        <p:txBody>
          <a:bodyPr lIns="91440" tIns="45720" rIns="91440" bIns="45720" anchor="t"/>
          <a:lstStyle/>
          <a:p>
            <a:r>
              <a:rPr lang="en-US" sz="4000">
                <a:solidFill>
                  <a:schemeClr val="accent4">
                    <a:lumMod val="76000"/>
                  </a:schemeClr>
                </a:solidFill>
                <a:latin typeface="Abadi"/>
              </a:rPr>
              <a:t>Flowchart of Neural Network Embedding-Regression based recommender system</a:t>
            </a:r>
          </a:p>
        </p:txBody>
      </p:sp>
      <p:sp>
        <p:nvSpPr>
          <p:cNvPr id="13" name="Content Placeholder 4">
            <a:extLst>
              <a:ext uri="{FF2B5EF4-FFF2-40B4-BE49-F238E27FC236}">
                <a16:creationId xmlns:a16="http://schemas.microsoft.com/office/drawing/2014/main" id="{507EDBE9-1908-A4F3-DB3F-FB417B06DDCA}"/>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accent4">
                    <a:lumMod val="49000"/>
                  </a:schemeClr>
                </a:solidFill>
                <a:ea typeface="+mn-lt"/>
                <a:cs typeface="+mn-lt"/>
              </a:rPr>
              <a:t>This flowchart represents a neural recommender system that combines user and item embeddings with additional regression layers to model complex interactions. The concatenated embeddings are passed through a neural network to predict ratings. The model is evaluated using RMSE on the test set.</a:t>
            </a:r>
            <a:endParaRPr lang="en-US" dirty="0">
              <a:solidFill>
                <a:schemeClr val="accent4">
                  <a:lumMod val="49000"/>
                </a:schemeClr>
              </a:solidFill>
              <a:ea typeface="+mn-lt"/>
              <a:cs typeface="+mn-lt"/>
            </a:endParaRPr>
          </a:p>
        </p:txBody>
      </p:sp>
      <p:pic>
        <p:nvPicPr>
          <p:cNvPr id="17" name="Picture 16">
            <a:extLst>
              <a:ext uri="{FF2B5EF4-FFF2-40B4-BE49-F238E27FC236}">
                <a16:creationId xmlns:a16="http://schemas.microsoft.com/office/drawing/2014/main" id="{7222B472-5AA2-5B6B-21F0-235ECD9D5078}"/>
              </a:ext>
            </a:extLst>
          </p:cNvPr>
          <p:cNvPicPr>
            <a:picLocks noChangeAspect="1"/>
          </p:cNvPicPr>
          <p:nvPr/>
        </p:nvPicPr>
        <p:blipFill>
          <a:blip r:embed="rId2"/>
          <a:stretch>
            <a:fillRect/>
          </a:stretch>
        </p:blipFill>
        <p:spPr>
          <a:xfrm>
            <a:off x="981204" y="4040765"/>
            <a:ext cx="10240029" cy="1260799"/>
          </a:xfrm>
          <a:prstGeom prst="rect">
            <a:avLst/>
          </a:prstGeom>
        </p:spPr>
      </p:pic>
      <p:sp>
        <p:nvSpPr>
          <p:cNvPr id="18" name="Slide Number Placeholder 17">
            <a:extLst>
              <a:ext uri="{FF2B5EF4-FFF2-40B4-BE49-F238E27FC236}">
                <a16:creationId xmlns:a16="http://schemas.microsoft.com/office/drawing/2014/main" id="{472C0444-3633-78E8-FB2B-4B376E8641F3}"/>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20</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2380038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F59A7-9095-DD03-9A86-855148088CC9}"/>
            </a:ext>
          </a:extLst>
        </p:cNvPr>
        <p:cNvGrpSpPr/>
        <p:nvPr/>
      </p:nvGrpSpPr>
      <p:grpSpPr>
        <a:xfrm>
          <a:off x="0" y="0"/>
          <a:ext cx="0" cy="0"/>
          <a:chOff x="0" y="0"/>
          <a:chExt cx="0" cy="0"/>
        </a:xfrm>
      </p:grpSpPr>
      <p:sp>
        <p:nvSpPr>
          <p:cNvPr id="11" name="Title 3">
            <a:extLst>
              <a:ext uri="{FF2B5EF4-FFF2-40B4-BE49-F238E27FC236}">
                <a16:creationId xmlns:a16="http://schemas.microsoft.com/office/drawing/2014/main" id="{386C54EE-DCF3-1061-163E-23639105475C}"/>
              </a:ext>
            </a:extLst>
          </p:cNvPr>
          <p:cNvSpPr>
            <a:spLocks noGrp="1"/>
          </p:cNvSpPr>
          <p:nvPr>
            <p:ph type="title"/>
          </p:nvPr>
        </p:nvSpPr>
        <p:spPr>
          <a:xfrm>
            <a:off x="838200" y="365125"/>
            <a:ext cx="10515600" cy="1325563"/>
          </a:xfrm>
        </p:spPr>
        <p:txBody>
          <a:bodyPr lIns="91440" tIns="45720" rIns="91440" bIns="45720" anchor="t"/>
          <a:lstStyle/>
          <a:p>
            <a:r>
              <a:rPr lang="en-US" sz="4000">
                <a:solidFill>
                  <a:schemeClr val="accent4">
                    <a:lumMod val="76000"/>
                  </a:schemeClr>
                </a:solidFill>
                <a:latin typeface="Abadi"/>
              </a:rPr>
              <a:t>Flowchart of Neural Network Embedding-Classification based recommender system</a:t>
            </a:r>
          </a:p>
        </p:txBody>
      </p:sp>
      <p:sp>
        <p:nvSpPr>
          <p:cNvPr id="13" name="Content Placeholder 4">
            <a:extLst>
              <a:ext uri="{FF2B5EF4-FFF2-40B4-BE49-F238E27FC236}">
                <a16:creationId xmlns:a16="http://schemas.microsoft.com/office/drawing/2014/main" id="{64C0D840-8675-8D67-EB17-25A564A23E73}"/>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accent4">
                    <a:lumMod val="49000"/>
                  </a:schemeClr>
                </a:solidFill>
                <a:ea typeface="+mn-lt"/>
                <a:cs typeface="+mn-lt"/>
              </a:rPr>
              <a:t>This flowchart represents a neural recommender system that uses user and item embeddings combined with classification layers to predict rating categories. The model learns to classify interactions instead of regressing exact values. Performance is evaluated based on prediction accuracy or related classification metrics.</a:t>
            </a:r>
            <a:endParaRPr lang="en-US" dirty="0">
              <a:solidFill>
                <a:schemeClr val="accent4">
                  <a:lumMod val="49000"/>
                </a:schemeClr>
              </a:solidFill>
              <a:ea typeface="+mn-lt"/>
              <a:cs typeface="+mn-lt"/>
            </a:endParaRPr>
          </a:p>
        </p:txBody>
      </p:sp>
      <p:pic>
        <p:nvPicPr>
          <p:cNvPr id="2" name="Picture 1">
            <a:extLst>
              <a:ext uri="{FF2B5EF4-FFF2-40B4-BE49-F238E27FC236}">
                <a16:creationId xmlns:a16="http://schemas.microsoft.com/office/drawing/2014/main" id="{BF68C629-26AA-A580-4C41-DD6FAD6E4072}"/>
              </a:ext>
            </a:extLst>
          </p:cNvPr>
          <p:cNvPicPr>
            <a:picLocks noChangeAspect="1"/>
          </p:cNvPicPr>
          <p:nvPr/>
        </p:nvPicPr>
        <p:blipFill>
          <a:blip r:embed="rId2"/>
          <a:stretch>
            <a:fillRect/>
          </a:stretch>
        </p:blipFill>
        <p:spPr>
          <a:xfrm>
            <a:off x="960329" y="4072080"/>
            <a:ext cx="10281781" cy="1260799"/>
          </a:xfrm>
          <a:prstGeom prst="rect">
            <a:avLst/>
          </a:prstGeom>
        </p:spPr>
      </p:pic>
      <p:sp>
        <p:nvSpPr>
          <p:cNvPr id="3" name="Slide Number Placeholder 2">
            <a:extLst>
              <a:ext uri="{FF2B5EF4-FFF2-40B4-BE49-F238E27FC236}">
                <a16:creationId xmlns:a16="http://schemas.microsoft.com/office/drawing/2014/main" id="{35E1397A-717A-4EFB-7160-11E7936185AA}"/>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21</a:t>
            </a:fld>
            <a:endParaRPr lang="en-US">
              <a:solidFill>
                <a:schemeClr val="accent4">
                  <a:lumMod val="76000"/>
                </a:schemeClr>
              </a:solidFill>
            </a:endParaRPr>
          </a:p>
        </p:txBody>
      </p:sp>
    </p:spTree>
    <p:extLst>
      <p:ext uri="{BB962C8B-B14F-4D97-AF65-F5344CB8AC3E}">
        <p14:creationId xmlns:p14="http://schemas.microsoft.com/office/powerpoint/2010/main" val="410588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Compare the performance of collaborative-filtering models</a:t>
            </a:r>
          </a:p>
        </p:txBody>
      </p:sp>
      <p:sp>
        <p:nvSpPr>
          <p:cNvPr id="3" name="Content Placeholder 4">
            <a:extLst>
              <a:ext uri="{FF2B5EF4-FFF2-40B4-BE49-F238E27FC236}">
                <a16:creationId xmlns:a16="http://schemas.microsoft.com/office/drawing/2014/main" id="{AAFB407D-4516-680F-BBF5-2E72FCD4E677}"/>
              </a:ext>
            </a:extLst>
          </p:cNvPr>
          <p:cNvSpPr txBox="1">
            <a:spLocks/>
          </p:cNvSpPr>
          <p:nvPr/>
        </p:nvSpPr>
        <p:spPr>
          <a:xfrm>
            <a:off x="834787" y="1719221"/>
            <a:ext cx="10516513" cy="4764221"/>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accent4">
                    <a:lumMod val="49000"/>
                  </a:schemeClr>
                </a:solidFill>
                <a:ea typeface="+mn-lt"/>
                <a:cs typeface="+mn-lt"/>
              </a:rPr>
              <a:t>This chart compares the RMSE performance of different collaborative filtering approaches. Traditional methods like KNN and NMF show higher error, while neural models significantly improve accuracy. The best performance is achieved by neural architectures, especially the classification-based model (NNC), indicating their superior ability to capture complex user–item interactions.</a:t>
            </a:r>
            <a:endParaRPr lang="en-US" dirty="0">
              <a:solidFill>
                <a:schemeClr val="accent4">
                  <a:lumMod val="49000"/>
                </a:schemeClr>
              </a:solidFill>
              <a:ea typeface="+mn-lt"/>
              <a:cs typeface="+mn-lt"/>
            </a:endParaRPr>
          </a:p>
        </p:txBody>
      </p:sp>
      <p:pic>
        <p:nvPicPr>
          <p:cNvPr id="5" name="Picture 4" descr="A graph of different colored bars&#10;&#10;AI-generated content may be incorrect.">
            <a:extLst>
              <a:ext uri="{FF2B5EF4-FFF2-40B4-BE49-F238E27FC236}">
                <a16:creationId xmlns:a16="http://schemas.microsoft.com/office/drawing/2014/main" id="{59DFFE5F-AF2E-56C1-185C-B64AD77F91CD}"/>
              </a:ext>
            </a:extLst>
          </p:cNvPr>
          <p:cNvPicPr>
            <a:picLocks noChangeAspect="1"/>
          </p:cNvPicPr>
          <p:nvPr/>
        </p:nvPicPr>
        <p:blipFill>
          <a:blip r:embed="rId2"/>
          <a:stretch>
            <a:fillRect/>
          </a:stretch>
        </p:blipFill>
        <p:spPr>
          <a:xfrm>
            <a:off x="4014788" y="3024188"/>
            <a:ext cx="4152900" cy="3333750"/>
          </a:xfrm>
          <a:prstGeom prst="rect">
            <a:avLst/>
          </a:prstGeom>
        </p:spPr>
      </p:pic>
      <p:sp>
        <p:nvSpPr>
          <p:cNvPr id="8" name="Slide Number Placeholder 7">
            <a:extLst>
              <a:ext uri="{FF2B5EF4-FFF2-40B4-BE49-F238E27FC236}">
                <a16:creationId xmlns:a16="http://schemas.microsoft.com/office/drawing/2014/main" id="{D0D391F3-5247-1846-8E40-F943130DC198}"/>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22</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4130130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5903913" cy="4351338"/>
          </a:xfrm>
          <a:prstGeom prst="rect">
            <a:avLst/>
          </a:prstGeom>
        </p:spPr>
        <p:txBody>
          <a:bodyPr lIns="91440" tIns="45720" rIns="91440" bIns="45720" anchor="t">
            <a:normAutofit fontScale="85000" lnSpcReduction="20000"/>
          </a:bodyPr>
          <a:lstStyle/>
          <a:p>
            <a:pPr>
              <a:lnSpc>
                <a:spcPct val="100000"/>
              </a:lnSpc>
              <a:spcBef>
                <a:spcPts val="1400"/>
              </a:spcBef>
            </a:pPr>
            <a:r>
              <a:rPr lang="en-US" sz="2000" dirty="0">
                <a:solidFill>
                  <a:schemeClr val="accent4">
                    <a:lumMod val="49000"/>
                  </a:schemeClr>
                </a:solidFill>
                <a:latin typeface="Abadi"/>
              </a:rPr>
              <a:t>Users struggle to discover </a:t>
            </a:r>
            <a:r>
              <a:rPr lang="en-US" sz="2000">
                <a:solidFill>
                  <a:schemeClr val="accent4">
                    <a:lumMod val="49000"/>
                  </a:schemeClr>
                </a:solidFill>
                <a:latin typeface="Abadi"/>
              </a:rPr>
              <a:t>relevant courses due to content overload.</a:t>
            </a:r>
            <a:endParaRPr lang="en-US" sz="2000" dirty="0">
              <a:solidFill>
                <a:schemeClr val="accent4">
                  <a:lumMod val="49000"/>
                </a:schemeClr>
              </a:solidFill>
              <a:latin typeface="Abadi"/>
            </a:endParaRPr>
          </a:p>
          <a:p>
            <a:pPr>
              <a:lnSpc>
                <a:spcPct val="100000"/>
              </a:lnSpc>
              <a:spcBef>
                <a:spcPts val="1400"/>
              </a:spcBef>
            </a:pPr>
            <a:r>
              <a:rPr lang="en-US" sz="2000" dirty="0">
                <a:solidFill>
                  <a:schemeClr val="accent4">
                    <a:lumMod val="49000"/>
                  </a:schemeClr>
                </a:solidFill>
                <a:latin typeface="Abadi"/>
              </a:rPr>
              <a:t>Content based, collaborative filtering, and deep learning models are evaluated </a:t>
            </a:r>
            <a:r>
              <a:rPr lang="en-US" sz="2000">
                <a:solidFill>
                  <a:schemeClr val="accent4">
                    <a:lumMod val="49000"/>
                  </a:schemeClr>
                </a:solidFill>
                <a:latin typeface="Abadi"/>
              </a:rPr>
              <a:t>approaches</a:t>
            </a:r>
            <a:r>
              <a:rPr lang="en-US" sz="2000" dirty="0">
                <a:solidFill>
                  <a:schemeClr val="accent4">
                    <a:lumMod val="49000"/>
                  </a:schemeClr>
                </a:solidFill>
                <a:latin typeface="Abadi"/>
              </a:rPr>
              <a:t>.</a:t>
            </a:r>
          </a:p>
          <a:p>
            <a:pPr>
              <a:lnSpc>
                <a:spcPct val="100000"/>
              </a:lnSpc>
              <a:spcBef>
                <a:spcPts val="1400"/>
              </a:spcBef>
            </a:pPr>
            <a:r>
              <a:rPr lang="en-US" sz="2000" dirty="0">
                <a:solidFill>
                  <a:schemeClr val="accent4">
                    <a:lumMod val="49000"/>
                  </a:schemeClr>
                </a:solidFill>
                <a:latin typeface="Abadi"/>
              </a:rPr>
              <a:t>User preferences are highly </a:t>
            </a:r>
            <a:r>
              <a:rPr lang="en-US" sz="2000">
                <a:solidFill>
                  <a:schemeClr val="accent4">
                    <a:lumMod val="49000"/>
                  </a:schemeClr>
                </a:solidFill>
                <a:latin typeface="Abadi"/>
              </a:rPr>
              <a:t>nonlinear</a:t>
            </a:r>
            <a:r>
              <a:rPr lang="en-US" sz="2000" dirty="0">
                <a:solidFill>
                  <a:schemeClr val="accent4">
                    <a:lumMod val="49000"/>
                  </a:schemeClr>
                </a:solidFill>
                <a:latin typeface="Abadi"/>
              </a:rPr>
              <a:t> and context </a:t>
            </a:r>
            <a:r>
              <a:rPr lang="en-US" sz="2000">
                <a:solidFill>
                  <a:schemeClr val="accent4">
                    <a:lumMod val="49000"/>
                  </a:schemeClr>
                </a:solidFill>
                <a:latin typeface="Abadi"/>
              </a:rPr>
              <a:t>dependent.</a:t>
            </a:r>
            <a:endParaRPr lang="en-US" sz="2000" dirty="0">
              <a:solidFill>
                <a:schemeClr val="accent4">
                  <a:lumMod val="49000"/>
                </a:schemeClr>
              </a:solidFill>
              <a:latin typeface="Abadi"/>
            </a:endParaRPr>
          </a:p>
          <a:p>
            <a:pPr>
              <a:lnSpc>
                <a:spcPct val="100000"/>
              </a:lnSpc>
              <a:spcBef>
                <a:spcPts val="1400"/>
              </a:spcBef>
            </a:pPr>
            <a:r>
              <a:rPr lang="en-US" sz="2000" dirty="0">
                <a:solidFill>
                  <a:schemeClr val="accent4">
                    <a:lumMod val="49000"/>
                  </a:schemeClr>
                </a:solidFill>
                <a:latin typeface="Abadi"/>
              </a:rPr>
              <a:t>Traditional Models like KNN provide baseline performance, but neural models </a:t>
            </a:r>
            <a:r>
              <a:rPr lang="en-US" sz="2000">
                <a:solidFill>
                  <a:schemeClr val="accent4">
                    <a:lumMod val="49000"/>
                  </a:schemeClr>
                </a:solidFill>
                <a:latin typeface="Abadi"/>
              </a:rPr>
              <a:t>significantly improve prediction accuracy.</a:t>
            </a:r>
            <a:endParaRPr lang="en-US" sz="2000" dirty="0">
              <a:solidFill>
                <a:schemeClr val="accent4">
                  <a:lumMod val="49000"/>
                </a:schemeClr>
              </a:solidFill>
              <a:latin typeface="Abadi"/>
            </a:endParaRPr>
          </a:p>
          <a:p>
            <a:pPr>
              <a:lnSpc>
                <a:spcPct val="100000"/>
              </a:lnSpc>
              <a:spcBef>
                <a:spcPts val="1400"/>
              </a:spcBef>
              <a:buFont typeface="Arial"/>
              <a:buChar char="•"/>
            </a:pPr>
            <a:r>
              <a:rPr lang="en-US" sz="2000">
                <a:solidFill>
                  <a:schemeClr val="accent4">
                    <a:lumMod val="49000"/>
                  </a:schemeClr>
                </a:solidFill>
                <a:latin typeface="Abadi"/>
              </a:rPr>
              <a:t>Embedding-based with Classification neural architecture achieved the best results.</a:t>
            </a:r>
            <a:endParaRPr lang="en-US" sz="2000" dirty="0">
              <a:solidFill>
                <a:schemeClr val="accent4">
                  <a:lumMod val="49000"/>
                </a:schemeClr>
              </a:solidFill>
              <a:latin typeface="Abadi"/>
            </a:endParaRPr>
          </a:p>
          <a:p>
            <a:pPr>
              <a:lnSpc>
                <a:spcPct val="100000"/>
              </a:lnSpc>
              <a:spcBef>
                <a:spcPts val="1400"/>
              </a:spcBef>
              <a:buFont typeface="Arial"/>
              <a:buChar char="•"/>
            </a:pPr>
            <a:r>
              <a:rPr lang="en-US" sz="2000">
                <a:solidFill>
                  <a:schemeClr val="accent4">
                    <a:lumMod val="49000"/>
                  </a:schemeClr>
                </a:solidFill>
                <a:latin typeface="Abadi"/>
              </a:rPr>
              <a:t>Cold start problem is a limitation for new Users/Items.</a:t>
            </a:r>
            <a:endParaRPr lang="en-US" sz="2000" dirty="0">
              <a:solidFill>
                <a:schemeClr val="accent4">
                  <a:lumMod val="49000"/>
                </a:schemeClr>
              </a:solidFill>
              <a:latin typeface="Abadi"/>
            </a:endParaRPr>
          </a:p>
          <a:p>
            <a:pPr>
              <a:lnSpc>
                <a:spcPct val="100000"/>
              </a:lnSpc>
              <a:spcBef>
                <a:spcPts val="1400"/>
              </a:spcBef>
              <a:buFont typeface="Arial"/>
              <a:buChar char="•"/>
            </a:pPr>
            <a:r>
              <a:rPr lang="en-US" sz="2000">
                <a:solidFill>
                  <a:schemeClr val="accent4">
                    <a:lumMod val="49000"/>
                  </a:schemeClr>
                </a:solidFill>
                <a:latin typeface="Abadi"/>
              </a:rPr>
              <a:t>For future work a hybrid recommender system can give better results.</a:t>
            </a:r>
            <a:endParaRPr lang="en-US" sz="2000" dirty="0">
              <a:solidFill>
                <a:schemeClr val="accent4">
                  <a:lumMod val="49000"/>
                </a:schemeClr>
              </a:solidFill>
              <a:latin typeface="Abadi"/>
            </a:endParaRPr>
          </a:p>
          <a:p>
            <a:pPr>
              <a:lnSpc>
                <a:spcPct val="100000"/>
              </a:lnSpc>
              <a:spcBef>
                <a:spcPts val="1400"/>
              </a:spcBef>
              <a:buFont typeface="Arial"/>
              <a:buChar char="•"/>
            </a:pPr>
            <a:endParaRPr lang="en-US" sz="2000" dirty="0">
              <a:solidFill>
                <a:schemeClr val="accent4">
                  <a:lumMod val="49000"/>
                </a:schemeClr>
              </a:solidFill>
              <a:latin typeface="Abadi"/>
            </a:endParaRP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chemeClr val="accent4">
                    <a:lumMod val="76000"/>
                  </a:schemeClr>
                </a:solidFill>
                <a:latin typeface="Abadi"/>
              </a:rPr>
              <a:t>Conclusions</a:t>
            </a:r>
            <a:endParaRPr lang="en-US">
              <a:solidFill>
                <a:schemeClr val="accent4">
                  <a:lumMod val="76000"/>
                </a:schemeClr>
              </a:solidFill>
            </a:endParaRPr>
          </a:p>
        </p:txBody>
      </p:sp>
      <p:sp>
        <p:nvSpPr>
          <p:cNvPr id="2" name="Slide Number Placeholder 1">
            <a:extLst>
              <a:ext uri="{FF2B5EF4-FFF2-40B4-BE49-F238E27FC236}">
                <a16:creationId xmlns:a16="http://schemas.microsoft.com/office/drawing/2014/main" id="{F94AFF66-E511-5C24-419F-1594D5D63E43}"/>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23</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163012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lIns="91440" tIns="45720" rIns="91440" bIns="45720" anchor="t">
            <a:normAutofit/>
          </a:bodyPr>
          <a:lstStyle/>
          <a:p>
            <a:pPr>
              <a:lnSpc>
                <a:spcPct val="100000"/>
              </a:lnSpc>
              <a:spcBef>
                <a:spcPts val="1400"/>
              </a:spcBef>
            </a:pPr>
            <a:r>
              <a:rPr lang="en-US" sz="2000">
                <a:solidFill>
                  <a:schemeClr val="accent4">
                    <a:lumMod val="49000"/>
                  </a:schemeClr>
                </a:solidFill>
                <a:latin typeface="Abadi"/>
              </a:rPr>
              <a:t>Github Repository for the Code: </a:t>
            </a:r>
            <a:r>
              <a:rPr lang="en-US" sz="2000" dirty="0">
                <a:solidFill>
                  <a:schemeClr val="accent4">
                    <a:lumMod val="49000"/>
                  </a:schemeClr>
                </a:solidFill>
                <a:latin typeface="Abadi"/>
                <a:hlinkClick r:id="rId3">
                  <a:extLst>
                    <a:ext uri="{A12FA001-AC4F-418D-AE19-62706E023703}">
                      <ahyp:hlinkClr xmlns:ahyp="http://schemas.microsoft.com/office/drawing/2018/hyperlinkcolor" val="tx"/>
                    </a:ext>
                  </a:extLst>
                </a:hlinkClick>
              </a:rPr>
              <a:t>Link</a:t>
            </a:r>
            <a:endParaRPr lang="en-US" sz="2000">
              <a:solidFill>
                <a:schemeClr val="accent4">
                  <a:lumMod val="49000"/>
                </a:schemeClr>
              </a:solidFill>
              <a:latin typeface="Abadi"/>
            </a:endParaRP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chemeClr val="accent4">
                    <a:lumMod val="76000"/>
                  </a:schemeClr>
                </a:solidFill>
                <a:latin typeface="Abadi"/>
              </a:rPr>
              <a:t>Appendix</a:t>
            </a:r>
            <a:endParaRPr lang="en-US" dirty="0">
              <a:solidFill>
                <a:schemeClr val="accent4">
                  <a:lumMod val="76000"/>
                </a:schemeClr>
              </a:solidFill>
            </a:endParaRPr>
          </a:p>
        </p:txBody>
      </p:sp>
      <p:sp>
        <p:nvSpPr>
          <p:cNvPr id="2" name="Slide Number Placeholder 1">
            <a:extLst>
              <a:ext uri="{FF2B5EF4-FFF2-40B4-BE49-F238E27FC236}">
                <a16:creationId xmlns:a16="http://schemas.microsoft.com/office/drawing/2014/main" id="{6A329F10-6400-DF6B-C66D-687C34417CBB}"/>
              </a:ext>
            </a:extLst>
          </p:cNvPr>
          <p:cNvSpPr>
            <a:spLocks noGrp="1"/>
          </p:cNvSpPr>
          <p:nvPr>
            <p:ph type="sldNum" sz="quarter" idx="12"/>
          </p:nvPr>
        </p:nvSpPr>
        <p:spPr/>
        <p:txBody>
          <a:bodyPr/>
          <a:lstStyle/>
          <a:p>
            <a:fld id="{A190C97C-0095-2443-AC12-FA4CBA4ACD4D}" type="slidenum">
              <a:rPr lang="en-US" dirty="0" smtClean="0">
                <a:solidFill>
                  <a:schemeClr val="accent4">
                    <a:lumMod val="76000"/>
                  </a:schemeClr>
                </a:solidFill>
                <a:latin typeface="Abadi"/>
              </a:rPr>
              <a:t>24</a:t>
            </a:fld>
            <a:endParaRPr lang="en-US" dirty="0">
              <a:solidFill>
                <a:schemeClr val="accent4">
                  <a:lumMod val="76000"/>
                </a:schemeClr>
              </a:solidFill>
              <a:latin typeface="Abadi"/>
            </a:endParaRPr>
          </a:p>
        </p:txBody>
      </p:sp>
    </p:spTree>
    <p:extLst>
      <p:ext uri="{BB962C8B-B14F-4D97-AF65-F5344CB8AC3E}">
        <p14:creationId xmlns:p14="http://schemas.microsoft.com/office/powerpoint/2010/main" val="341000852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purl.org/dc/dcmitype/"/>
    <ds:schemaRef ds:uri="http://schemas.microsoft.com/office/2006/metadata/properties"/>
    <ds:schemaRef ds:uri="f80a141d-92ca-4d3d-9308-f7e7b1d44ce8"/>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155be751-a274-42e8-93fb-f39d3b9bccc8"/>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2546</TotalTime>
  <Words>954</Words>
  <Application>Microsoft Office PowerPoint</Application>
  <PresentationFormat>Widescreen</PresentationFormat>
  <Paragraphs>177</Paragraphs>
  <Slides>24</Slides>
  <Notes>3</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Custom Design</vt:lpstr>
      <vt:lpstr>PowerPoint Presentation</vt:lpstr>
      <vt:lpstr>PowerPoint Presentation</vt:lpstr>
      <vt:lpstr>PowerPoint Presentation</vt:lpstr>
      <vt:lpstr>Exploratory Data Analysis</vt:lpstr>
      <vt:lpstr>Course counts per genre</vt:lpstr>
      <vt:lpstr>Course enrollment distribution</vt:lpstr>
      <vt:lpstr>20 most popular courses</vt:lpstr>
      <vt:lpstr>Word cloud of course titles</vt:lpstr>
      <vt:lpstr>Content-based Recommender System using Unsupervised Learning</vt:lpstr>
      <vt:lpstr>Flowchart of content-based recommender system using user profile and course genres</vt:lpstr>
      <vt:lpstr>Evaluation results of user profile-based recommender system</vt:lpstr>
      <vt:lpstr>Flowchart of content-based recommender system using course similarity</vt:lpstr>
      <vt:lpstr>Evaluation results of course similarity based recommender system</vt:lpstr>
      <vt:lpstr>Flowchart of clustering-based recommender system</vt:lpstr>
      <vt:lpstr>Evaluation results of clustering-based recommender system</vt:lpstr>
      <vt:lpstr>Collaborative-filtering Recommender System using Supervised Learning</vt:lpstr>
      <vt:lpstr>Flowchart of KNN based recommender system</vt:lpstr>
      <vt:lpstr>Flowchart of NMF based recommender system</vt:lpstr>
      <vt:lpstr>Flowchart of Neural Network Embedding based recommender system</vt:lpstr>
      <vt:lpstr>Flowchart of Neural Network Embedding-Regression based recommender system</vt:lpstr>
      <vt:lpstr>Flowchart of Neural Network Embedding-Classification based recommender system</vt:lpstr>
      <vt:lpstr>Compare the performance of collaborative-filtering models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Yan Y Luo</cp:lastModifiedBy>
  <cp:revision>1039</cp:revision>
  <dcterms:created xsi:type="dcterms:W3CDTF">2021-04-29T18:58:34Z</dcterms:created>
  <dcterms:modified xsi:type="dcterms:W3CDTF">2026-04-08T09:23:18Z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